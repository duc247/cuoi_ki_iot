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wav" ContentType="audio/x-wav"/>
  <Override PartName="/ppt/media/media2.wav" ContentType="audio/x-wav"/>
  <Override PartName="/ppt/media/media3.wav" ContentType="audio/x-wav"/>
  <Override PartName="/ppt/media/media4.wav" ContentType="audio/x-wav"/>
  <Override PartName="/ppt/media/media5.wav" ContentType="audio/x-wav"/>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7.xml"/><Relationship Id="rId9" Type="http://schemas.openxmlformats.org/officeDocument/2006/relationships/slide" Target="slide19.xml"/><Relationship Id="rId10"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2.xml"/><Relationship Id="rId5"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5.xml"/><Relationship Id="rId4" Type="http://schemas.openxmlformats.org/officeDocument/2006/relationships/slide" Target="slide2.xml"/><Relationship Id="rId5"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6.xml"/><Relationship Id="rId4" Type="http://schemas.openxmlformats.org/officeDocument/2006/relationships/slide" Target="slide2.xml"/><Relationship Id="rId5"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xml"/><Relationship Id="rId3" Type="http://schemas.openxmlformats.org/officeDocument/2006/relationships/slide" Target="slide2.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8.xml"/><Relationship Id="rId4" Type="http://schemas.openxmlformats.org/officeDocument/2006/relationships/slide" Target="slide2.xml"/><Relationship Id="rId5"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slide" Target="slide9.xml"/><Relationship Id="rId4" Type="http://schemas.openxmlformats.org/officeDocument/2006/relationships/slide" Target="slide2.xml"/><Relationship Id="rId5"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image" Target="../media/image7.png"/><Relationship Id="rId5" Type="http://schemas.openxmlformats.org/officeDocument/2006/relationships/slide" Target="slide10.xml"/><Relationship Id="rId6"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 Id="rId3" Type="http://schemas.openxmlformats.org/officeDocument/2006/relationships/slide" Target="slide13.xml"/><Relationship Id="rId4" Type="http://schemas.openxmlformats.org/officeDocument/2006/relationships/image" Target="../media/image8.png"/><Relationship Id="rId5"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xml"/><Relationship Id="rId3" Type="http://schemas.openxmlformats.org/officeDocument/2006/relationships/slide" Target="slide12.xml"/><Relationship Id="rId4" Type="http://schemas.openxmlformats.org/officeDocument/2006/relationships/image" Target="../media/image9.png"/><Relationship Id="rId5" Type="http://schemas.openxmlformats.org/officeDocument/2006/relationships/slide" Target="slide2.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slide" Target="slide13.xml"/><Relationship Id="rId4" Type="http://schemas.openxmlformats.org/officeDocument/2006/relationships/slide" Target="slide2.xml"/><Relationship Id="rId5"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slide" Target="slide14.xml"/><Relationship Id="rId4" Type="http://schemas.openxmlformats.org/officeDocument/2006/relationships/slide" Target="slide2.xml"/><Relationship Id="rId5"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slide" Target="slide15.xml"/><Relationship Id="rId4" Type="http://schemas.openxmlformats.org/officeDocument/2006/relationships/slide" Target="slide2.xml"/><Relationship Id="rId5"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slide" Target="slide16.xml"/><Relationship Id="rId4" Type="http://schemas.openxmlformats.org/officeDocument/2006/relationships/slide" Target="slide2.xml"/><Relationship Id="rId5"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7.xml"/><Relationship Id="rId3" Type="http://schemas.openxmlformats.org/officeDocument/2006/relationships/slide" Target="slide2.xml"/><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2.xml"/><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2.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wav"/><Relationship Id="rId3" Type="http://schemas.openxmlformats.org/officeDocument/2006/relationships/video" Target="../media/media1.wav"/><Relationship Id="rId4" Type="http://schemas.openxmlformats.org/officeDocument/2006/relationships/image" Target="../media/image14.png"/><Relationship Id="rId5" Type="http://schemas.microsoft.com/office/2007/relationships/media" Target="../media/media2.wav"/><Relationship Id="rId6" Type="http://schemas.openxmlformats.org/officeDocument/2006/relationships/video" Target="../media/media2.wav"/><Relationship Id="rId7" Type="http://schemas.microsoft.com/office/2007/relationships/media" Target="../media/media3.wav"/><Relationship Id="rId8" Type="http://schemas.openxmlformats.org/officeDocument/2006/relationships/video" Target="../media/media3.wav"/><Relationship Id="rId9" Type="http://schemas.microsoft.com/office/2007/relationships/media" Target="../media/media4.wav"/><Relationship Id="rId10" Type="http://schemas.openxmlformats.org/officeDocument/2006/relationships/video" Target="../media/media4.wav"/><Relationship Id="rId11" Type="http://schemas.microsoft.com/office/2007/relationships/media" Target="../media/media5.wav"/><Relationship Id="rId12" Type="http://schemas.openxmlformats.org/officeDocument/2006/relationships/video" Target="../media/media5.wav"/><Relationship Id="rId13" Type="http://schemas.openxmlformats.org/officeDocument/2006/relationships/slide" Target="slide20.xml"/><Relationship Id="rId14" Type="http://schemas.openxmlformats.org/officeDocument/2006/relationships/slide" Target="slide2.xml"/><Relationship Id="rId15"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xml"/><Relationship Id="rId3"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77240"/>
            <a:ext cx="6217920" cy="384048"/>
          </a:xfrm>
          <a:prstGeom prst="roundRect">
            <a:avLst/>
          </a:prstGeom>
          <a:solidFill>
            <a:srgbClr val="17365D"/>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latin typeface="Calibri"/>
              </a:defRPr>
            </a:pPr>
            <a:r>
              <a:t>★ BÁO CÁO TIỂU LUẬN NGHIÊN CỨU KHOA HỌC • AIOT331185_01CLC</a:t>
            </a:r>
          </a:p>
        </p:txBody>
      </p:sp>
      <p:sp>
        <p:nvSpPr>
          <p:cNvPr id="5" name="TextBox 4"/>
          <p:cNvSpPr txBox="1"/>
          <p:nvPr/>
        </p:nvSpPr>
        <p:spPr>
          <a:xfrm>
            <a:off x="731520" y="1280160"/>
            <a:ext cx="6217920" cy="2011680"/>
          </a:xfrm>
          <a:prstGeom prst="rect">
            <a:avLst/>
          </a:prstGeom>
          <a:noFill/>
        </p:spPr>
        <p:txBody>
          <a:bodyPr wrap="square">
            <a:spAutoFit/>
          </a:bodyPr>
          <a:lstStyle/>
          <a:p>
            <a:pPr>
              <a:spcAft>
                <a:spcPts val="800"/>
              </a:spcAft>
              <a:defRPr sz="2400" b="1">
                <a:solidFill>
                  <a:srgbClr val="FFFFFF"/>
                </a:solidFill>
                <a:latin typeface="Calibri"/>
              </a:defRPr>
            </a:pPr>
            <a:r>
              <a:t>KHỬ NHIỄU TIẾNG NÓI CHỮ SỐ</a:t>
            </a:r>
            <a:br/>
            <a:r>
              <a:t>BẰNG U-NET 2D DAE TRÊN LOG-MEL</a:t>
            </a:r>
          </a:p>
          <a:p>
            <a:pPr>
              <a:defRPr sz="1350">
                <a:solidFill>
                  <a:srgbClr val="38BDF8"/>
                </a:solidFill>
                <a:latin typeface="Calibri"/>
              </a:defRPr>
            </a:pPr>
            <a:r>
              <a:t>Đối chứng Wiener và Spectral Subtraction trên FSDD; Đánh giá chi phí xử lý hướng tới ứng dụng tại biên IoT</a:t>
            </a:r>
          </a:p>
        </p:txBody>
      </p:sp>
      <p:sp>
        <p:nvSpPr>
          <p:cNvPr id="6" name="Rounded Rectangle 5"/>
          <p:cNvSpPr/>
          <p:nvPr/>
        </p:nvSpPr>
        <p:spPr>
          <a:xfrm>
            <a:off x="731520" y="3474720"/>
            <a:ext cx="6217920" cy="2468880"/>
          </a:xfrm>
          <a:prstGeom prst="roundRect">
            <a:avLst/>
          </a:prstGeom>
          <a:solidFill>
            <a:srgbClr val="17365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365760" tIns="228600"/>
          <a:lstStyle/>
          <a:p>
            <a:pPr algn="l">
              <a:spcAft>
                <a:spcPts val="500"/>
              </a:spcAft>
            </a:pPr>
            <a:r>
              <a:rPr b="1" sz="1150">
                <a:solidFill>
                  <a:srgbClr val="F59E0B"/>
                </a:solidFill>
              </a:rPr>
              <a:t>Sinh viên thực hiện: </a:t>
            </a:r>
            <a:r>
              <a:rPr sz="1150">
                <a:solidFill>
                  <a:srgbClr val="FFFFFF"/>
                </a:solidFill>
              </a:rPr>
              <a:t>Vũ Minh Đức (MSSV: 23110094)</a:t>
            </a:r>
          </a:p>
          <a:p>
            <a:pPr algn="l">
              <a:spcAft>
                <a:spcPts val="500"/>
              </a:spcAft>
            </a:pPr>
            <a:r>
              <a:rPr b="1" sz="1150">
                <a:solidFill>
                  <a:srgbClr val="38BDF8"/>
                </a:solidFill>
              </a:rPr>
              <a:t>Môn học: </a:t>
            </a:r>
            <a:r>
              <a:rPr sz="1150">
                <a:solidFill>
                  <a:srgbClr val="FFFFFF"/>
                </a:solidFill>
              </a:rPr>
              <a:t>Trí tuệ nhân tạo cho IoT (Mã HP: AIOT331185_01CLC)</a:t>
            </a:r>
          </a:p>
          <a:p>
            <a:pPr algn="l">
              <a:spcAft>
                <a:spcPts val="500"/>
              </a:spcAft>
            </a:pPr>
            <a:r>
              <a:rPr b="1" sz="1150">
                <a:solidFill>
                  <a:srgbClr val="FFFFFF"/>
                </a:solidFill>
              </a:rPr>
              <a:t>Giảng viên hướng dẫn: </a:t>
            </a:r>
            <a:r>
              <a:rPr sz="1150">
                <a:solidFill>
                  <a:srgbClr val="FFFFFF"/>
                </a:solidFill>
              </a:rPr>
              <a:t>ThS. Hồ Nhựt Minh</a:t>
            </a:r>
          </a:p>
          <a:p>
            <a:pPr algn="l">
              <a:spcAft>
                <a:spcPts val="500"/>
              </a:spcAft>
            </a:pPr>
            <a:r>
              <a:rPr b="1" sz="1150">
                <a:solidFill>
                  <a:srgbClr val="FFFFFF"/>
                </a:solidFill>
              </a:rPr>
              <a:t>Đơn vị đào tạo: </a:t>
            </a:r>
            <a:r>
              <a:rPr sz="1150">
                <a:solidFill>
                  <a:srgbClr val="FFFFFF"/>
                </a:solidFill>
              </a:rPr>
              <a:t>Trường Đại học Sư phạm Kỹ thuật TP. Hồ Chí Minh</a:t>
            </a:r>
          </a:p>
          <a:p>
            <a:pPr algn="l">
              <a:spcAft>
                <a:spcPts val="500"/>
              </a:spcAft>
            </a:pPr>
            <a:r>
              <a:rPr b="1" sz="1150">
                <a:solidFill>
                  <a:srgbClr val="F59E0B"/>
                </a:solidFill>
              </a:rPr>
              <a:t>Năm học thực hiện: </a:t>
            </a:r>
            <a:r>
              <a:rPr sz="1150">
                <a:solidFill>
                  <a:srgbClr val="FFFFFF"/>
                </a:solidFill>
              </a:rPr>
              <a:t>Học kỳ 1 • Năm học 2024 – 2025</a:t>
            </a:r>
          </a:p>
        </p:txBody>
      </p:sp>
      <p:sp>
        <p:nvSpPr>
          <p:cNvPr id="7" name="Rounded Rectangle 6"/>
          <p:cNvSpPr/>
          <p:nvPr/>
        </p:nvSpPr>
        <p:spPr>
          <a:xfrm>
            <a:off x="7132320" y="777240"/>
            <a:ext cx="4343400" cy="5166360"/>
          </a:xfrm>
          <a:prstGeom prst="roundRect">
            <a:avLst/>
          </a:prstGeom>
          <a:solidFill>
            <a:srgbClr val="17365D"/>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914400"/>
            <a:ext cx="3977639" cy="365760"/>
          </a:xfrm>
          <a:prstGeom prst="rect">
            <a:avLst/>
          </a:prstGeom>
          <a:noFill/>
        </p:spPr>
        <p:txBody>
          <a:bodyPr wrap="none">
            <a:spAutoFit/>
          </a:bodyPr>
          <a:lstStyle/>
          <a:p>
            <a:pPr algn="ctr">
              <a:defRPr sz="1300" b="1">
                <a:solidFill>
                  <a:srgbClr val="F59E0B"/>
                </a:solidFill>
                <a:latin typeface="Calibri"/>
              </a:defRPr>
            </a:pPr>
            <a:r>
              <a:t>QUY TRÌNH HỆ THỐNG KHỬ NHIỄU</a:t>
            </a:r>
          </a:p>
        </p:txBody>
      </p:sp>
      <p:sp>
        <p:nvSpPr>
          <p:cNvPr id="9" name="Rounded Rectangle 8"/>
          <p:cNvSpPr/>
          <p:nvPr/>
        </p:nvSpPr>
        <p:spPr>
          <a:xfrm>
            <a:off x="7498079" y="1508760"/>
            <a:ext cx="3749039" cy="822960"/>
          </a:xfrm>
          <a:prstGeom prst="roundRect">
            <a:avLst/>
          </a:prstGeom>
          <a:solidFill>
            <a:srgbClr val="F1F5F9"/>
          </a:solidFill>
          <a:ln w="254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b="1" sz="1200">
                <a:solidFill>
                  <a:srgbClr val="64748B"/>
                </a:solidFill>
              </a:defRPr>
            </a:pPr>
            <a:r>
              <a:t>1. TÍN HIỆU CÓ NHIỄU y[n]</a:t>
            </a:r>
          </a:p>
          <a:p>
            <a:pPr>
              <a:defRPr sz="1000">
                <a:solidFill>
                  <a:srgbClr val="0F172A"/>
                </a:solidFill>
              </a:defRPr>
            </a:pPr>
            <a:r>
              <a:t>Nhiễu AWGN tĩnh &amp; Babble phi dừng (0, 5, 10 dB)</a:t>
            </a:r>
          </a:p>
        </p:txBody>
      </p:sp>
      <p:sp>
        <p:nvSpPr>
          <p:cNvPr id="10" name="Rounded Rectangle 9"/>
          <p:cNvSpPr/>
          <p:nvPr/>
        </p:nvSpPr>
        <p:spPr>
          <a:xfrm>
            <a:off x="7498079" y="2560320"/>
            <a:ext cx="3749039" cy="822960"/>
          </a:xfrm>
          <a:prstGeom prst="roundRect">
            <a:avLst/>
          </a:prstGeom>
          <a:solidFill>
            <a:srgbClr val="CCFBF1"/>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b="1" sz="1200">
                <a:solidFill>
                  <a:srgbClr val="0D9488"/>
                </a:solidFill>
              </a:defRPr>
            </a:pPr>
            <a:r>
              <a:t>2. BIỂU DIỄN LOG-MEL 64×64</a:t>
            </a:r>
          </a:p>
          <a:p>
            <a:pPr>
              <a:defRPr sz="1000">
                <a:solidFill>
                  <a:srgbClr val="0F172A"/>
                </a:solidFill>
              </a:defRPr>
            </a:pPr>
            <a:r>
              <a:t>STFT 512 pt (64 ms), hop 128 (16 ms), 64 Mel</a:t>
            </a:r>
          </a:p>
        </p:txBody>
      </p:sp>
      <p:sp>
        <p:nvSpPr>
          <p:cNvPr id="11" name="Rounded Rectangle 10"/>
          <p:cNvSpPr/>
          <p:nvPr/>
        </p:nvSpPr>
        <p:spPr>
          <a:xfrm>
            <a:off x="7498079" y="3611879"/>
            <a:ext cx="3749039" cy="822960"/>
          </a:xfrm>
          <a:prstGeom prst="roundRect">
            <a:avLst/>
          </a:prstGeom>
          <a:solidFill>
            <a:srgbClr val="DBEAFE"/>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b="1" sz="1200">
                <a:solidFill>
                  <a:srgbClr val="2563EB"/>
                </a:solidFill>
              </a:defRPr>
            </a:pPr>
            <a:r>
              <a:t>3. MẠNG SÂU U-NET 2D DAE</a:t>
            </a:r>
          </a:p>
          <a:p>
            <a:pPr>
              <a:defRPr sz="1000">
                <a:solidFill>
                  <a:srgbClr val="0F172A"/>
                </a:solidFill>
              </a:defRPr>
            </a:pPr>
            <a:r>
              <a:t>Encoder-Decoder 449k params, Skip Connections</a:t>
            </a:r>
          </a:p>
        </p:txBody>
      </p:sp>
      <p:sp>
        <p:nvSpPr>
          <p:cNvPr id="12" name="Rounded Rectangle 11"/>
          <p:cNvSpPr/>
          <p:nvPr/>
        </p:nvSpPr>
        <p:spPr>
          <a:xfrm>
            <a:off x="7498079" y="4663440"/>
            <a:ext cx="3749039" cy="822960"/>
          </a:xfrm>
          <a:prstGeom prst="roundRect">
            <a:avLst/>
          </a:prstGeom>
          <a:solidFill>
            <a:srgbClr val="DCFCE7"/>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b="1" sz="1200">
                <a:solidFill>
                  <a:srgbClr val="16A34A"/>
                </a:solidFill>
              </a:defRPr>
            </a:pPr>
            <a:r>
              <a:t>4. TIẾNG NÓI TÁI TẠO ŝ[n]</a:t>
            </a:r>
          </a:p>
          <a:p>
            <a:pPr>
              <a:defRPr sz="1000">
                <a:solidFill>
                  <a:srgbClr val="0F172A"/>
                </a:solidFill>
              </a:defRPr>
            </a:pPr>
            <a:r>
              <a:t>Nghịch đảo Mel (NNLS) + ISTFT với pha nhiễu</a:t>
            </a:r>
          </a:p>
        </p:txBody>
      </p:sp>
      <p:sp>
        <p:nvSpPr>
          <p:cNvPr id="13" name="Rectangle 12"/>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16" name="Rounded Rectangle 15"/>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 / 22</a:t>
            </a:r>
          </a:p>
        </p:txBody>
      </p:sp>
      <p:sp>
        <p:nvSpPr>
          <p:cNvPr id="17" name="TextBox 16"/>
          <p:cNvSpPr txBox="1"/>
          <p:nvPr/>
        </p:nvSpPr>
        <p:spPr>
          <a:xfrm>
            <a:off x="8046720" y="6510528"/>
            <a:ext cx="3383280" cy="274320"/>
          </a:xfrm>
          <a:prstGeom prst="rect">
            <a:avLst/>
          </a:prstGeom>
          <a:noFill/>
        </p:spPr>
        <p:txBody>
          <a:bodyPr wrap="square" lIns="0" tIns="0" rIns="0" bIns="0">
            <a:spAutoFit/>
          </a:bodyPr>
          <a:lstStyle/>
          <a:p>
            <a:pPr algn="r"/>
            <a:r>
              <a:rPr sz="950">
                <a:solidFill>
                  <a:srgbClr val="64748B"/>
                </a:solidFill>
                <a:latin typeface="Calibri"/>
              </a:rPr>
              <a:t>◀ Trang trước</a:t>
            </a:r>
            <a:r>
              <a:rPr sz="950">
                <a:solidFill>
                  <a:srgbClr val="475569"/>
                </a:solidFill>
                <a:latin typeface="Calibri"/>
              </a:rPr>
              <a:t>  |  </a:t>
            </a:r>
            <a:r>
              <a:rPr sz="950" b="1">
                <a:solidFill>
                  <a:srgbClr val="F59E0B"/>
                </a:solidFill>
                <a:latin typeface="Calibri"/>
                <a:hlinkClick r:id="rId2" action="ppaction://hlinksldjump"/>
              </a:rPr>
              <a:t>☰ Mục lục</a:t>
            </a:r>
            <a:r>
              <a:rPr sz="950">
                <a:solidFill>
                  <a:srgbClr val="475569"/>
                </a:solidFill>
                <a:latin typeface="Calibri"/>
              </a:rPr>
              <a:t>  |  </a:t>
            </a:r>
            <a:r>
              <a:rPr sz="950" b="1">
                <a:solidFill>
                  <a:srgbClr val="38BDF8"/>
                </a:solidFill>
                <a:latin typeface="Calibri"/>
                <a:hlinkClick r:id="rId2" action="ppaction://hlinksldjump"/>
              </a:rPr>
              <a:t>Trang sau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MỤC LỤC NỘI DUNG BÁO CÁO</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Cấu trúc bài thuyết trình nghiên cứu khoa học (Click vào mục bất kỳ để chuyển trang)</a:t>
            </a:r>
          </a:p>
        </p:txBody>
      </p:sp>
      <p:sp>
        <p:nvSpPr>
          <p:cNvPr id="8" name="Rounded Rectangle 7">
            <a:hlinkClick r:id="rId2" action="ppaction://hlinksldjump"/>
          </p:cNvPr>
          <p:cNvSpPr/>
          <p:nvPr/>
        </p:nvSpPr>
        <p:spPr>
          <a:xfrm>
            <a:off x="731520" y="1417320"/>
            <a:ext cx="5257800" cy="105156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a:hlinkClick r:id="rId2" action="ppaction://hlinksldjump"/>
          </p:cNvPr>
          <p:cNvSpPr/>
          <p:nvPr/>
        </p:nvSpPr>
        <p:spPr>
          <a:xfrm>
            <a:off x="731520" y="1417320"/>
            <a:ext cx="914400"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01</a:t>
            </a:r>
          </a:p>
        </p:txBody>
      </p:sp>
      <p:sp>
        <p:nvSpPr>
          <p:cNvPr id="10" name="TextBox 9"/>
          <p:cNvSpPr txBox="1"/>
          <p:nvPr/>
        </p:nvSpPr>
        <p:spPr>
          <a:xfrm>
            <a:off x="1783080" y="1527048"/>
            <a:ext cx="4069080" cy="822960"/>
          </a:xfrm>
          <a:prstGeom prst="rect">
            <a:avLst/>
          </a:prstGeom>
          <a:noFill/>
        </p:spPr>
        <p:txBody>
          <a:bodyPr wrap="square">
            <a:spAutoFit/>
          </a:bodyPr>
          <a:lstStyle/>
          <a:p>
            <a:r>
              <a:rPr sz="1300" b="1">
                <a:solidFill>
                  <a:srgbClr val="17365D"/>
                </a:solidFill>
                <a:latin typeface="Calibri"/>
                <a:hlinkClick r:id="rId2" action="ppaction://hlinksldjump"/>
              </a:rPr>
              <a:t>BÀI TOÁN &amp; MỤC TIÊU NGHIÊN CỨU</a:t>
            </a:r>
          </a:p>
          <a:p>
            <a:pPr>
              <a:defRPr sz="1050">
                <a:solidFill>
                  <a:srgbClr val="0F172A"/>
                </a:solidFill>
                <a:latin typeface="Calibri"/>
              </a:defRPr>
            </a:pPr>
            <a:r>
              <a:t>Mô hình tín hiệu, 4 hệ thống đối chứng, nguyên tắc so sánh</a:t>
            </a:r>
          </a:p>
        </p:txBody>
      </p:sp>
      <p:sp>
        <p:nvSpPr>
          <p:cNvPr id="11" name="Rounded Rectangle 10">
            <a:hlinkClick r:id="rId3" action="ppaction://hlinksldjump"/>
          </p:cNvPr>
          <p:cNvSpPr/>
          <p:nvPr/>
        </p:nvSpPr>
        <p:spPr>
          <a:xfrm>
            <a:off x="6172200" y="1417320"/>
            <a:ext cx="5257800" cy="105156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a:hlinkClick r:id="rId3" action="ppaction://hlinksldjump"/>
          </p:cNvPr>
          <p:cNvSpPr/>
          <p:nvPr/>
        </p:nvSpPr>
        <p:spPr>
          <a:xfrm>
            <a:off x="6172200" y="1417320"/>
            <a:ext cx="914400" cy="10515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02</a:t>
            </a:r>
          </a:p>
        </p:txBody>
      </p:sp>
      <p:sp>
        <p:nvSpPr>
          <p:cNvPr id="13" name="TextBox 12"/>
          <p:cNvSpPr txBox="1"/>
          <p:nvPr/>
        </p:nvSpPr>
        <p:spPr>
          <a:xfrm>
            <a:off x="7223760" y="1527048"/>
            <a:ext cx="4069080" cy="822960"/>
          </a:xfrm>
          <a:prstGeom prst="rect">
            <a:avLst/>
          </a:prstGeom>
          <a:noFill/>
        </p:spPr>
        <p:txBody>
          <a:bodyPr wrap="square">
            <a:spAutoFit/>
          </a:bodyPr>
          <a:lstStyle/>
          <a:p>
            <a:r>
              <a:rPr sz="1300" b="1">
                <a:solidFill>
                  <a:srgbClr val="17365D"/>
                </a:solidFill>
                <a:latin typeface="Calibri"/>
                <a:hlinkClick r:id="rId3" action="ppaction://hlinksldjump"/>
              </a:rPr>
              <a:t>DỮ LIỆU FSDD &amp; TIỀN XỬ LÝ</a:t>
            </a:r>
          </a:p>
          <a:p>
            <a:pPr>
              <a:defRPr sz="1050">
                <a:solidFill>
                  <a:srgbClr val="0F172A"/>
                </a:solidFill>
                <a:latin typeface="Calibri"/>
              </a:defRPr>
            </a:pPr>
            <a:r>
              <a:t>FSDD 3.000 mẫu, speaker-disjoint split, phối trộn AWGN/Babble</a:t>
            </a:r>
          </a:p>
        </p:txBody>
      </p:sp>
      <p:sp>
        <p:nvSpPr>
          <p:cNvPr id="14" name="Rounded Rectangle 13">
            <a:hlinkClick r:id="rId4" action="ppaction://hlinksldjump"/>
          </p:cNvPr>
          <p:cNvSpPr/>
          <p:nvPr/>
        </p:nvSpPr>
        <p:spPr>
          <a:xfrm>
            <a:off x="731520" y="2606040"/>
            <a:ext cx="5257800" cy="1051560"/>
          </a:xfrm>
          <a:prstGeom prst="roundRect">
            <a:avLst/>
          </a:prstGeom>
          <a:solidFill>
            <a:srgbClr val="DBEAF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a:hlinkClick r:id="rId4" action="ppaction://hlinksldjump"/>
          </p:cNvPr>
          <p:cNvSpPr/>
          <p:nvPr/>
        </p:nvSpPr>
        <p:spPr>
          <a:xfrm>
            <a:off x="731520" y="2606040"/>
            <a:ext cx="914400" cy="10515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03</a:t>
            </a:r>
          </a:p>
        </p:txBody>
      </p:sp>
      <p:sp>
        <p:nvSpPr>
          <p:cNvPr id="16" name="TextBox 15"/>
          <p:cNvSpPr txBox="1"/>
          <p:nvPr/>
        </p:nvSpPr>
        <p:spPr>
          <a:xfrm>
            <a:off x="1783080" y="2715768"/>
            <a:ext cx="4069080" cy="822960"/>
          </a:xfrm>
          <a:prstGeom prst="rect">
            <a:avLst/>
          </a:prstGeom>
          <a:noFill/>
        </p:spPr>
        <p:txBody>
          <a:bodyPr wrap="square">
            <a:spAutoFit/>
          </a:bodyPr>
          <a:lstStyle/>
          <a:p>
            <a:r>
              <a:rPr sz="1300" b="1">
                <a:solidFill>
                  <a:srgbClr val="17365D"/>
                </a:solidFill>
                <a:latin typeface="Calibri"/>
                <a:hlinkClick r:id="rId4" action="ppaction://hlinksldjump"/>
              </a:rPr>
              <a:t>BIỂU DIỄN PHỔ &amp; PIPELINE TOÀN CHUỖI</a:t>
            </a:r>
          </a:p>
          <a:p>
            <a:pPr>
              <a:defRPr sz="1050">
                <a:solidFill>
                  <a:srgbClr val="0F172A"/>
                </a:solidFill>
                <a:latin typeface="Calibri"/>
              </a:defRPr>
            </a:pPr>
            <a:r>
              <a:t>Log-mel 64×64, zero-padding, luồng xử lý toàn chuỗi</a:t>
            </a:r>
          </a:p>
        </p:txBody>
      </p:sp>
      <p:sp>
        <p:nvSpPr>
          <p:cNvPr id="17" name="Rounded Rectangle 16">
            <a:hlinkClick r:id="rId5" action="ppaction://hlinksldjump"/>
          </p:cNvPr>
          <p:cNvSpPr/>
          <p:nvPr/>
        </p:nvSpPr>
        <p:spPr>
          <a:xfrm>
            <a:off x="6172200" y="2606040"/>
            <a:ext cx="5257800" cy="105156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a:hlinkClick r:id="rId5" action="ppaction://hlinksldjump"/>
          </p:cNvPr>
          <p:cNvSpPr/>
          <p:nvPr/>
        </p:nvSpPr>
        <p:spPr>
          <a:xfrm>
            <a:off x="6172200" y="2606040"/>
            <a:ext cx="914400" cy="10515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04</a:t>
            </a:r>
          </a:p>
        </p:txBody>
      </p:sp>
      <p:sp>
        <p:nvSpPr>
          <p:cNvPr id="19" name="TextBox 18"/>
          <p:cNvSpPr txBox="1"/>
          <p:nvPr/>
        </p:nvSpPr>
        <p:spPr>
          <a:xfrm>
            <a:off x="7223760" y="2715768"/>
            <a:ext cx="4069080" cy="822960"/>
          </a:xfrm>
          <a:prstGeom prst="rect">
            <a:avLst/>
          </a:prstGeom>
          <a:noFill/>
        </p:spPr>
        <p:txBody>
          <a:bodyPr wrap="square">
            <a:spAutoFit/>
          </a:bodyPr>
          <a:lstStyle/>
          <a:p>
            <a:r>
              <a:rPr sz="1300" b="1">
                <a:solidFill>
                  <a:srgbClr val="17365D"/>
                </a:solidFill>
                <a:latin typeface="Calibri"/>
                <a:hlinkClick r:id="rId5" action="ppaction://hlinksldjump"/>
              </a:rPr>
              <a:t>PHƯƠNG PHÁP BASELINE &amp; U-NET 2D DAE</a:t>
            </a:r>
          </a:p>
          <a:p>
            <a:pPr>
              <a:defRPr sz="1050">
                <a:solidFill>
                  <a:srgbClr val="0F172A"/>
                </a:solidFill>
                <a:latin typeface="Calibri"/>
              </a:defRPr>
            </a:pPr>
            <a:r>
              <a:t>Spectral Subtraction, Wiener DD, kiến trúc mạng U-Net 449k</a:t>
            </a:r>
          </a:p>
        </p:txBody>
      </p:sp>
      <p:sp>
        <p:nvSpPr>
          <p:cNvPr id="20" name="Rounded Rectangle 19">
            <a:hlinkClick r:id="rId6" action="ppaction://hlinksldjump"/>
          </p:cNvPr>
          <p:cNvSpPr/>
          <p:nvPr/>
        </p:nvSpPr>
        <p:spPr>
          <a:xfrm>
            <a:off x="731520" y="3794760"/>
            <a:ext cx="5257800" cy="105156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a:hlinkClick r:id="rId6" action="ppaction://hlinksldjump"/>
          </p:cNvPr>
          <p:cNvSpPr/>
          <p:nvPr/>
        </p:nvSpPr>
        <p:spPr>
          <a:xfrm>
            <a:off x="731520" y="3794760"/>
            <a:ext cx="914400" cy="10515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05</a:t>
            </a:r>
          </a:p>
        </p:txBody>
      </p:sp>
      <p:sp>
        <p:nvSpPr>
          <p:cNvPr id="22" name="TextBox 21"/>
          <p:cNvSpPr txBox="1"/>
          <p:nvPr/>
        </p:nvSpPr>
        <p:spPr>
          <a:xfrm>
            <a:off x="1783080" y="3904488"/>
            <a:ext cx="4069080" cy="822960"/>
          </a:xfrm>
          <a:prstGeom prst="rect">
            <a:avLst/>
          </a:prstGeom>
          <a:noFill/>
        </p:spPr>
        <p:txBody>
          <a:bodyPr wrap="square">
            <a:spAutoFit/>
          </a:bodyPr>
          <a:lstStyle/>
          <a:p>
            <a:r>
              <a:rPr sz="1300" b="1">
                <a:solidFill>
                  <a:srgbClr val="17365D"/>
                </a:solidFill>
                <a:latin typeface="Calibri"/>
                <a:hlinkClick r:id="rId6" action="ppaction://hlinksldjump"/>
              </a:rPr>
              <a:t>HUẤN LUYỆN &amp; KẾT QUẢ THỰC NGHIỆM</a:t>
            </a:r>
          </a:p>
          <a:p>
            <a:pPr>
              <a:defRPr sz="1050">
                <a:solidFill>
                  <a:srgbClr val="0F172A"/>
                </a:solidFill>
                <a:latin typeface="Calibri"/>
              </a:defRPr>
            </a:pPr>
            <a:r>
              <a:t>Hội tụ epoch 5, SNR Gain, ΔPESQ, ΔSTOI trên 6 điều kiện</a:t>
            </a:r>
          </a:p>
        </p:txBody>
      </p:sp>
      <p:sp>
        <p:nvSpPr>
          <p:cNvPr id="23" name="Rounded Rectangle 22">
            <a:hlinkClick r:id="rId7" action="ppaction://hlinksldjump"/>
          </p:cNvPr>
          <p:cNvSpPr/>
          <p:nvPr/>
        </p:nvSpPr>
        <p:spPr>
          <a:xfrm>
            <a:off x="6172200" y="3794760"/>
            <a:ext cx="5257800" cy="105156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a:hlinkClick r:id="rId7" action="ppaction://hlinksldjump"/>
          </p:cNvPr>
          <p:cNvSpPr/>
          <p:nvPr/>
        </p:nvSpPr>
        <p:spPr>
          <a:xfrm>
            <a:off x="6172200" y="3794760"/>
            <a:ext cx="914400" cy="10515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06</a:t>
            </a:r>
          </a:p>
        </p:txBody>
      </p:sp>
      <p:sp>
        <p:nvSpPr>
          <p:cNvPr id="25" name="TextBox 24"/>
          <p:cNvSpPr txBox="1"/>
          <p:nvPr/>
        </p:nvSpPr>
        <p:spPr>
          <a:xfrm>
            <a:off x="7223760" y="3904488"/>
            <a:ext cx="4069080" cy="822960"/>
          </a:xfrm>
          <a:prstGeom prst="rect">
            <a:avLst/>
          </a:prstGeom>
          <a:noFill/>
        </p:spPr>
        <p:txBody>
          <a:bodyPr wrap="square">
            <a:spAutoFit/>
          </a:bodyPr>
          <a:lstStyle/>
          <a:p>
            <a:r>
              <a:rPr sz="1300" b="1">
                <a:solidFill>
                  <a:srgbClr val="17365D"/>
                </a:solidFill>
                <a:latin typeface="Calibri"/>
                <a:hlinkClick r:id="rId7" action="ppaction://hlinksldjump"/>
              </a:rPr>
              <a:t>BÓC TÁCH KIẾN TRÚC &amp; ĐA SEED</a:t>
            </a:r>
          </a:p>
          <a:p>
            <a:pPr>
              <a:defRPr sz="1050">
                <a:solidFill>
                  <a:srgbClr val="0F172A"/>
                </a:solidFill>
                <a:latin typeface="Calibri"/>
              </a:defRPr>
            </a:pPr>
            <a:r>
              <a:t>Ablation Skip Connection, 3 random seeds (42, 123, 999)</a:t>
            </a:r>
          </a:p>
        </p:txBody>
      </p:sp>
      <p:sp>
        <p:nvSpPr>
          <p:cNvPr id="26" name="Rounded Rectangle 25">
            <a:hlinkClick r:id="rId8" action="ppaction://hlinksldjump"/>
          </p:cNvPr>
          <p:cNvSpPr/>
          <p:nvPr/>
        </p:nvSpPr>
        <p:spPr>
          <a:xfrm>
            <a:off x="731520" y="4983480"/>
            <a:ext cx="5257800" cy="105156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a:hlinkClick r:id="rId8" action="ppaction://hlinksldjump"/>
          </p:cNvPr>
          <p:cNvSpPr/>
          <p:nvPr/>
        </p:nvSpPr>
        <p:spPr>
          <a:xfrm>
            <a:off x="731520" y="4983480"/>
            <a:ext cx="914400" cy="10515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07</a:t>
            </a:r>
          </a:p>
        </p:txBody>
      </p:sp>
      <p:sp>
        <p:nvSpPr>
          <p:cNvPr id="28" name="TextBox 27"/>
          <p:cNvSpPr txBox="1"/>
          <p:nvPr/>
        </p:nvSpPr>
        <p:spPr>
          <a:xfrm>
            <a:off x="1783080" y="5093208"/>
            <a:ext cx="4069080" cy="822960"/>
          </a:xfrm>
          <a:prstGeom prst="rect">
            <a:avLst/>
          </a:prstGeom>
          <a:noFill/>
        </p:spPr>
        <p:txBody>
          <a:bodyPr wrap="square">
            <a:spAutoFit/>
          </a:bodyPr>
          <a:lstStyle/>
          <a:p>
            <a:r>
              <a:rPr sz="1300" b="1">
                <a:solidFill>
                  <a:srgbClr val="17365D"/>
                </a:solidFill>
                <a:latin typeface="Calibri"/>
                <a:hlinkClick r:id="rId8" action="ppaction://hlinksldjump"/>
              </a:rPr>
              <a:t>ĐÁNH GIÁ CHI PHÍ TẠI BIÊN IOT</a:t>
            </a:r>
          </a:p>
          <a:p>
            <a:pPr>
              <a:defRPr sz="1050">
                <a:solidFill>
                  <a:srgbClr val="0F172A"/>
                </a:solidFill>
                <a:latin typeface="Calibri"/>
              </a:defRPr>
            </a:pPr>
            <a:r>
              <a:t>Network Forward 4,9 ms vs End-to-End 159 ms, RAM, tính khả thi</a:t>
            </a:r>
          </a:p>
        </p:txBody>
      </p:sp>
      <p:sp>
        <p:nvSpPr>
          <p:cNvPr id="29" name="Rounded Rectangle 28">
            <a:hlinkClick r:id="rId9" action="ppaction://hlinksldjump"/>
          </p:cNvPr>
          <p:cNvSpPr/>
          <p:nvPr/>
        </p:nvSpPr>
        <p:spPr>
          <a:xfrm>
            <a:off x="6172200" y="4983480"/>
            <a:ext cx="5257800" cy="1051560"/>
          </a:xfrm>
          <a:prstGeom prst="roundRect">
            <a:avLst/>
          </a:prstGeom>
          <a:solidFill>
            <a:srgbClr val="F1F5F9"/>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a:hlinkClick r:id="rId9" action="ppaction://hlinksldjump"/>
          </p:cNvPr>
          <p:cNvSpPr/>
          <p:nvPr/>
        </p:nvSpPr>
        <p:spPr>
          <a:xfrm>
            <a:off x="6172200" y="4983480"/>
            <a:ext cx="914400" cy="1051560"/>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08</a:t>
            </a:r>
          </a:p>
        </p:txBody>
      </p:sp>
      <p:sp>
        <p:nvSpPr>
          <p:cNvPr id="31" name="TextBox 30"/>
          <p:cNvSpPr txBox="1"/>
          <p:nvPr/>
        </p:nvSpPr>
        <p:spPr>
          <a:xfrm>
            <a:off x="7223760" y="5093208"/>
            <a:ext cx="4069080" cy="822960"/>
          </a:xfrm>
          <a:prstGeom prst="rect">
            <a:avLst/>
          </a:prstGeom>
          <a:noFill/>
        </p:spPr>
        <p:txBody>
          <a:bodyPr wrap="square">
            <a:spAutoFit/>
          </a:bodyPr>
          <a:lstStyle/>
          <a:p>
            <a:r>
              <a:rPr sz="1300" b="1">
                <a:solidFill>
                  <a:srgbClr val="17365D"/>
                </a:solidFill>
                <a:latin typeface="Calibri"/>
                <a:hlinkClick r:id="rId9" action="ppaction://hlinksldjump"/>
              </a:rPr>
              <a:t>KẾT LUẬN, DEMO ÂM THANH &amp; HỎI ĐÁP</a:t>
            </a:r>
          </a:p>
          <a:p>
            <a:pPr>
              <a:defRPr sz="1050">
                <a:solidFill>
                  <a:srgbClr val="0F172A"/>
                </a:solidFill>
                <a:latin typeface="Calibri"/>
              </a:defRPr>
            </a:pPr>
            <a:r>
              <a:t>Tổng kết khoa học, 5 file WAV thực tế, định hướng tương lai</a:t>
            </a:r>
          </a:p>
        </p:txBody>
      </p:sp>
      <p:sp>
        <p:nvSpPr>
          <p:cNvPr id="32" name="Rectangle 31"/>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35" name="Rounded Rectangle 34"/>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2 / 22</a:t>
            </a:r>
          </a:p>
        </p:txBody>
      </p:sp>
      <p:sp>
        <p:nvSpPr>
          <p:cNvPr id="36" name="TextBox 35"/>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10" action="ppaction://hlinksldjump"/>
              </a:rPr>
              <a:t>◀ Trang trước</a:t>
            </a:r>
            <a:r>
              <a:rPr sz="950">
                <a:solidFill>
                  <a:srgbClr val="475569"/>
                </a:solidFill>
                <a:latin typeface="Calibri"/>
              </a:rPr>
              <a:t>  |  </a:t>
            </a:r>
            <a:r>
              <a:rPr sz="950">
                <a:solidFill>
                  <a:srgbClr val="64748B"/>
                </a:solidFill>
                <a:latin typeface="Calibri"/>
              </a:rPr>
              <a:t>☰ Mục lục</a:t>
            </a:r>
            <a:r>
              <a:rPr sz="950">
                <a:solidFill>
                  <a:srgbClr val="475569"/>
                </a:solidFill>
                <a:latin typeface="Calibri"/>
              </a:rPr>
              <a:t>  |  </a:t>
            </a:r>
            <a:r>
              <a:rPr sz="950" b="1">
                <a:solidFill>
                  <a:srgbClr val="38BDF8"/>
                </a:solidFill>
                <a:latin typeface="Calibri"/>
                <a:hlinkClick r:id="rId2" action="ppaction://hlinksldjump"/>
              </a:rPr>
              <a:t>Trang sau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1. BÀI TOÁN KHỬ NHIỄU VÀ MỤC TIÊU NGHIÊN CỨU</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Mô hình tín hiệu toán học và các hệ thống đối chứng khoa học</a:t>
            </a:r>
          </a:p>
        </p:txBody>
      </p:sp>
      <p:sp>
        <p:nvSpPr>
          <p:cNvPr id="8" name="Rounded Rectangle 7"/>
          <p:cNvSpPr/>
          <p:nvPr/>
        </p:nvSpPr>
        <p:spPr>
          <a:xfrm>
            <a:off x="731520" y="1325880"/>
            <a:ext cx="5212080" cy="3977639"/>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MÔ HÌNH TÍN HIỆU &amp; MỤC TIÊU TOÁN HỌC</a:t>
            </a:r>
          </a:p>
        </p:txBody>
      </p:sp>
      <p:sp>
        <p:nvSpPr>
          <p:cNvPr id="10" name="TextBox 9"/>
          <p:cNvSpPr txBox="1"/>
          <p:nvPr/>
        </p:nvSpPr>
        <p:spPr>
          <a:xfrm>
            <a:off x="914400" y="1828800"/>
            <a:ext cx="4846320" cy="3383280"/>
          </a:xfrm>
          <a:prstGeom prst="rect">
            <a:avLst/>
          </a:prstGeom>
          <a:noFill/>
        </p:spPr>
        <p:txBody>
          <a:bodyPr wrap="square">
            <a:spAutoFit/>
          </a:bodyPr>
          <a:lstStyle/>
          <a:p>
            <a:pPr algn="ctr">
              <a:spcAft>
                <a:spcPts val="800"/>
              </a:spcAft>
              <a:defRPr b="1" sz="2000">
                <a:solidFill>
                  <a:srgbClr val="2563EB"/>
                </a:solidFill>
              </a:defRPr>
            </a:pPr>
            <a:r>
              <a:t>y[n] = s[n] + α v[n]</a:t>
            </a:r>
          </a:p>
          <a:p>
            <a:pPr>
              <a:spcAft>
                <a:spcPts val="1000"/>
              </a:spcAft>
              <a:defRPr sz="1150">
                <a:solidFill>
                  <a:srgbClr val="0F172A"/>
                </a:solidFill>
              </a:defRPr>
            </a:pPr>
            <a:r>
              <a:t>• s[n]: Tín hiệu tiếng nói sạch (Clean Speech)</a:t>
            </a:r>
            <a:br/>
            <a:r>
              <a:t>• v[n]: Tín hiệu nhiễu môi trường (Noise: AWGN / Babble)</a:t>
            </a:r>
            <a:br/>
            <a:r>
              <a:t>• α: Hệ số chuẩn hóa năng lượng SNR mục tiêu (0, 5, 10 dB)</a:t>
            </a:r>
            <a:br/>
            <a:r>
              <a:t>• y[n]: Tín hiệu tiếng nói quan sát có nhiễu (Noisy Speech)</a:t>
            </a:r>
          </a:p>
          <a:p>
            <a:pPr>
              <a:spcAft>
                <a:spcPts val="400"/>
              </a:spcAft>
              <a:defRPr b="1" sz="1250">
                <a:solidFill>
                  <a:srgbClr val="17365D"/>
                </a:solidFill>
              </a:defRPr>
            </a:pPr>
            <a:r>
              <a:t>Sơ đồ luồng tín hiệu xử lý:</a:t>
            </a:r>
          </a:p>
        </p:txBody>
      </p:sp>
      <p:sp>
        <p:nvSpPr>
          <p:cNvPr id="11" name="Rounded Rectangle 10"/>
          <p:cNvSpPr/>
          <p:nvPr/>
        </p:nvSpPr>
        <p:spPr>
          <a:xfrm>
            <a:off x="914400" y="4389120"/>
            <a:ext cx="868680" cy="77724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6A34A"/>
                </a:solidFill>
                <a:latin typeface="Calibri"/>
              </a:defRPr>
            </a:pPr>
            <a:r>
              <a:t>Clean s[n]</a:t>
            </a:r>
          </a:p>
        </p:txBody>
      </p:sp>
      <p:sp>
        <p:nvSpPr>
          <p:cNvPr id="12" name="Rounded Rectangle 11"/>
          <p:cNvSpPr/>
          <p:nvPr/>
        </p:nvSpPr>
        <p:spPr>
          <a:xfrm>
            <a:off x="1874519" y="4389120"/>
            <a:ext cx="868680" cy="77724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EA580C"/>
                </a:solidFill>
                <a:latin typeface="Calibri"/>
              </a:defRPr>
            </a:pPr>
            <a:r>
              <a:t>Noise v[n]</a:t>
            </a:r>
          </a:p>
        </p:txBody>
      </p:sp>
      <p:sp>
        <p:nvSpPr>
          <p:cNvPr id="13" name="Rounded Rectangle 12"/>
          <p:cNvSpPr/>
          <p:nvPr/>
        </p:nvSpPr>
        <p:spPr>
          <a:xfrm>
            <a:off x="2834640" y="4389120"/>
            <a:ext cx="868680" cy="777240"/>
          </a:xfrm>
          <a:prstGeom prst="roundRect">
            <a:avLst/>
          </a:prstGeom>
          <a:solidFill>
            <a:srgbClr val="F1F5F9"/>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latin typeface="Calibri"/>
              </a:defRPr>
            </a:pPr>
            <a:r>
              <a:t>Noisy y[n]</a:t>
            </a:r>
          </a:p>
        </p:txBody>
      </p:sp>
      <p:sp>
        <p:nvSpPr>
          <p:cNvPr id="14" name="Rounded Rectangle 13"/>
          <p:cNvSpPr/>
          <p:nvPr/>
        </p:nvSpPr>
        <p:spPr>
          <a:xfrm>
            <a:off x="3794760" y="4389120"/>
            <a:ext cx="868680" cy="7772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Calibri"/>
              </a:defRPr>
            </a:pPr>
            <a:r>
              <a:t>U-Net DAE</a:t>
            </a:r>
          </a:p>
        </p:txBody>
      </p:sp>
      <p:sp>
        <p:nvSpPr>
          <p:cNvPr id="15" name="Rounded Rectangle 14"/>
          <p:cNvSpPr/>
          <p:nvPr/>
        </p:nvSpPr>
        <p:spPr>
          <a:xfrm>
            <a:off x="4754880" y="4389120"/>
            <a:ext cx="868680" cy="77724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6A34A"/>
                </a:solidFill>
                <a:latin typeface="Calibri"/>
              </a:defRPr>
            </a:pPr>
            <a:r>
              <a:t>Enhanced ŝ[n]</a:t>
            </a:r>
          </a:p>
        </p:txBody>
      </p:sp>
      <p:sp>
        <p:nvSpPr>
          <p:cNvPr id="16" name="Rounded Rectangle 15"/>
          <p:cNvSpPr/>
          <p:nvPr/>
        </p:nvSpPr>
        <p:spPr>
          <a:xfrm>
            <a:off x="6217920" y="1325880"/>
            <a:ext cx="5242255" cy="3977639"/>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325880"/>
            <a:ext cx="5242255"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BỐN HỆ THỐNG ĐỐI CHỨNG TRONG NGHIÊN CỨU</a:t>
            </a:r>
          </a:p>
        </p:txBody>
      </p:sp>
      <p:sp>
        <p:nvSpPr>
          <p:cNvPr id="18" name="Rounded Rectangle 17"/>
          <p:cNvSpPr/>
          <p:nvPr/>
        </p:nvSpPr>
        <p:spPr>
          <a:xfrm>
            <a:off x="6400800" y="1828800"/>
            <a:ext cx="4876495" cy="749808"/>
          </a:xfrm>
          <a:prstGeom prst="roundRect">
            <a:avLst/>
          </a:prstGeom>
          <a:solidFill>
            <a:srgbClr val="F1F5F9"/>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50">
                <a:solidFill>
                  <a:srgbClr val="64748B"/>
                </a:solidFill>
              </a:defRPr>
            </a:pPr>
            <a:r>
              <a:t>1. Noisy Speech (Baseline Mốc)</a:t>
            </a:r>
          </a:p>
          <a:p>
            <a:pPr>
              <a:defRPr sz="1000">
                <a:solidFill>
                  <a:srgbClr val="0F172A"/>
                </a:solidFill>
              </a:defRPr>
            </a:pPr>
            <a:r>
              <a:t>Tín hiệu quan sát chưa xử lý, làm quy chiếu đánh giá mức cải thiện.</a:t>
            </a:r>
          </a:p>
        </p:txBody>
      </p:sp>
      <p:sp>
        <p:nvSpPr>
          <p:cNvPr id="19" name="Rounded Rectangle 18"/>
          <p:cNvSpPr/>
          <p:nvPr/>
        </p:nvSpPr>
        <p:spPr>
          <a:xfrm>
            <a:off x="6400800" y="2670048"/>
            <a:ext cx="4876495" cy="749808"/>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50">
                <a:solidFill>
                  <a:srgbClr val="16A34A"/>
                </a:solidFill>
              </a:defRPr>
            </a:pPr>
            <a:r>
              <a:t>2. Spectral Subtraction (SS)</a:t>
            </a:r>
          </a:p>
          <a:p>
            <a:pPr>
              <a:defRPr sz="1000">
                <a:solidFill>
                  <a:srgbClr val="0F172A"/>
                </a:solidFill>
              </a:defRPr>
            </a:pPr>
            <a:r>
              <a:t>Trừ phổ công suất cổ điển (Boll, 1979), không cần học, tính toán nhanh.</a:t>
            </a:r>
          </a:p>
        </p:txBody>
      </p:sp>
      <p:sp>
        <p:nvSpPr>
          <p:cNvPr id="20" name="Rounded Rectangle 19"/>
          <p:cNvSpPr/>
          <p:nvPr/>
        </p:nvSpPr>
        <p:spPr>
          <a:xfrm>
            <a:off x="6400800" y="3511296"/>
            <a:ext cx="4876495" cy="749808"/>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50">
                <a:solidFill>
                  <a:srgbClr val="7C3AED"/>
                </a:solidFill>
              </a:defRPr>
            </a:pPr>
            <a:r>
              <a:t>3. Wiener Decision-Directed (Wiener DD)</a:t>
            </a:r>
          </a:p>
          <a:p>
            <a:pPr>
              <a:defRPr sz="1000">
                <a:solidFill>
                  <a:srgbClr val="0F172A"/>
                </a:solidFill>
              </a:defRPr>
            </a:pPr>
            <a:r>
              <a:t>Lọc Wiener với ước lượng SNR a priori (Ephraim &amp; Malah, 1984).</a:t>
            </a:r>
          </a:p>
        </p:txBody>
      </p:sp>
      <p:sp>
        <p:nvSpPr>
          <p:cNvPr id="21" name="Rounded Rectangle 20"/>
          <p:cNvSpPr/>
          <p:nvPr/>
        </p:nvSpPr>
        <p:spPr>
          <a:xfrm>
            <a:off x="6400800" y="4352544"/>
            <a:ext cx="4876495" cy="749808"/>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50">
                <a:solidFill>
                  <a:srgbClr val="2563EB"/>
                </a:solidFill>
              </a:defRPr>
            </a:pPr>
            <a:r>
              <a:t>4. U-Net 2D DAE (Đề xuất)</a:t>
            </a:r>
          </a:p>
          <a:p>
            <a:pPr>
              <a:defRPr sz="1000">
                <a:solidFill>
                  <a:srgbClr val="0F172A"/>
                </a:solidFill>
              </a:defRPr>
            </a:pPr>
            <a:r>
              <a:t>Mạng nơ-ron tích chập sâu tự mã hóa khử nhiễu trên phổ Log-mel 2D.</a:t>
            </a:r>
          </a:p>
        </p:txBody>
      </p:sp>
      <p:sp>
        <p:nvSpPr>
          <p:cNvPr id="22" name="Rectangle 21"/>
          <p:cNvSpPr/>
          <p:nvPr/>
        </p:nvSpPr>
        <p:spPr>
          <a:xfrm>
            <a:off x="731520" y="5440680"/>
            <a:ext cx="10728655" cy="822960"/>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NGUYÊN TẮC THỰC NGHIỆM ĐỐI CHỨNG KHÁCH QUAN</a:t>
            </a:r>
          </a:p>
          <a:p>
            <a:pPr>
              <a:defRPr sz="1100">
                <a:solidFill>
                  <a:srgbClr val="0F172A"/>
                </a:solidFill>
                <a:latin typeface="Calibri"/>
              </a:defRPr>
            </a:pPr>
            <a:r>
              <a:t>So sánh khoa học công bằng: Tất cả 4 phương pháp được đánh giá trên cùng tập dữ liệu, cùng điều kiện nhiễu, cùng khoảng hiệu chuẩn nhiễu và cùng quy trình tiền/hậu xử lý.</a:t>
            </a:r>
          </a:p>
        </p:txBody>
      </p:sp>
      <p:sp>
        <p:nvSpPr>
          <p:cNvPr id="23" name="Rectangle 22"/>
          <p:cNvSpPr/>
          <p:nvPr/>
        </p:nvSpPr>
        <p:spPr>
          <a:xfrm>
            <a:off x="731520" y="5440680"/>
            <a:ext cx="109728"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7" name="Rounded Rectangle 26"/>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3 / 22</a:t>
            </a:r>
          </a:p>
        </p:txBody>
      </p:sp>
      <p:sp>
        <p:nvSpPr>
          <p:cNvPr id="28" name="TextBox 27"/>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2" action="ppaction://hlinksldjump"/>
              </a:rPr>
              <a:t>☰ Mục lục</a:t>
            </a:r>
            <a:r>
              <a:rPr sz="950">
                <a:solidFill>
                  <a:srgbClr val="475569"/>
                </a:solidFill>
                <a:latin typeface="Calibri"/>
              </a:rPr>
              <a:t>  |  </a:t>
            </a:r>
            <a:r>
              <a:rPr sz="950" b="1">
                <a:solidFill>
                  <a:srgbClr val="38BDF8"/>
                </a:solidFill>
                <a:latin typeface="Calibri"/>
                <a:hlinkClick r:id="rId3" action="ppaction://hlinksldjump"/>
              </a:rPr>
              <a:t>Trang sau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2.1. TẬP DỮ LIỆU FSDD VÀ CHIẾN LƯỢC PHÂN CHIA NGƯỜI NÓI</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Free Spoken Digit Dataset (v1.0.10) và cơ chế Speaker-Disjoint Split</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PHÂN BỐ THỜI LƯỢNG FSDD (3.000 MẪU)</a:t>
            </a:r>
          </a:p>
        </p:txBody>
      </p:sp>
      <p:pic>
        <p:nvPicPr>
          <p:cNvPr id="10" name="Picture 9" descr="hinh_2_1_duration_dist.png"/>
          <p:cNvPicPr>
            <a:picLocks noChangeAspect="1"/>
          </p:cNvPicPr>
          <p:nvPr/>
        </p:nvPicPr>
        <p:blipFill>
          <a:blip r:embed="rId2"/>
          <a:stretch>
            <a:fillRect/>
          </a:stretch>
        </p:blipFill>
        <p:spPr>
          <a:xfrm>
            <a:off x="868680" y="2087634"/>
            <a:ext cx="4937760" cy="3185651"/>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2.1. Phân bố thời lượng thực tế của 3.000 bản ghi âm trong FSDD v1.0.10.</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THÔNG SỐ DỮ LIỆU &amp; PHÂN CHIA ĐỘC LẬP</a:t>
            </a:r>
          </a:p>
        </p:txBody>
      </p:sp>
      <p:sp>
        <p:nvSpPr>
          <p:cNvPr id="14" name="Rounded Rectangle 13"/>
          <p:cNvSpPr/>
          <p:nvPr/>
        </p:nvSpPr>
        <p:spPr>
          <a:xfrm>
            <a:off x="6400800" y="1828800"/>
            <a:ext cx="1143000" cy="68580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2563EB"/>
                </a:solidFill>
                <a:latin typeface="Calibri"/>
              </a:defRPr>
            </a:pPr>
            <a:r>
              <a:t>3.000</a:t>
            </a:r>
          </a:p>
          <a:p>
            <a:pPr algn="ctr">
              <a:defRPr sz="950" b="1">
                <a:solidFill>
                  <a:srgbClr val="0F172A"/>
                </a:solidFill>
                <a:latin typeface="Calibri"/>
              </a:defRPr>
            </a:pPr>
            <a:r>
              <a:t>Bản ghi âm</a:t>
            </a:r>
          </a:p>
        </p:txBody>
      </p:sp>
      <p:sp>
        <p:nvSpPr>
          <p:cNvPr id="15" name="Rounded Rectangle 14"/>
          <p:cNvSpPr/>
          <p:nvPr/>
        </p:nvSpPr>
        <p:spPr>
          <a:xfrm>
            <a:off x="7635240" y="1828800"/>
            <a:ext cx="1143000" cy="68580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0D9488"/>
                </a:solidFill>
                <a:latin typeface="Calibri"/>
              </a:defRPr>
            </a:pPr>
            <a:r>
              <a:t>6</a:t>
            </a:r>
          </a:p>
          <a:p>
            <a:pPr algn="ctr">
              <a:defRPr sz="950" b="1">
                <a:solidFill>
                  <a:srgbClr val="0F172A"/>
                </a:solidFill>
                <a:latin typeface="Calibri"/>
              </a:defRPr>
            </a:pPr>
            <a:r>
              <a:t>Người nói</a:t>
            </a:r>
          </a:p>
        </p:txBody>
      </p:sp>
      <p:sp>
        <p:nvSpPr>
          <p:cNvPr id="16" name="Rounded Rectangle 15"/>
          <p:cNvSpPr/>
          <p:nvPr/>
        </p:nvSpPr>
        <p:spPr>
          <a:xfrm>
            <a:off x="8869680" y="1828800"/>
            <a:ext cx="1143000" cy="68580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7C3AED"/>
                </a:solidFill>
                <a:latin typeface="Calibri"/>
              </a:defRPr>
            </a:pPr>
            <a:r>
              <a:t>8.000 Hz</a:t>
            </a:r>
          </a:p>
          <a:p>
            <a:pPr algn="ctr">
              <a:defRPr sz="950" b="1">
                <a:solidFill>
                  <a:srgbClr val="0F172A"/>
                </a:solidFill>
                <a:latin typeface="Calibri"/>
              </a:defRPr>
            </a:pPr>
            <a:r>
              <a:t>Lấy mẫu Fs</a:t>
            </a:r>
          </a:p>
        </p:txBody>
      </p:sp>
      <p:sp>
        <p:nvSpPr>
          <p:cNvPr id="17" name="Rounded Rectangle 16"/>
          <p:cNvSpPr/>
          <p:nvPr/>
        </p:nvSpPr>
        <p:spPr>
          <a:xfrm>
            <a:off x="10104120" y="1828800"/>
            <a:ext cx="1143000" cy="68580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EA580C"/>
                </a:solidFill>
                <a:latin typeface="Calibri"/>
              </a:defRPr>
            </a:pPr>
            <a:r>
              <a:t>0,437 s</a:t>
            </a:r>
          </a:p>
          <a:p>
            <a:pPr algn="ctr">
              <a:defRPr sz="950" b="1">
                <a:solidFill>
                  <a:srgbClr val="0F172A"/>
                </a:solidFill>
                <a:latin typeface="Calibri"/>
              </a:defRPr>
            </a:pPr>
            <a:r>
              <a:t>Thời lượng Mean</a:t>
            </a:r>
          </a:p>
        </p:txBody>
      </p:sp>
      <p:sp>
        <p:nvSpPr>
          <p:cNvPr id="18" name="Rounded Rectangle 17"/>
          <p:cNvSpPr/>
          <p:nvPr/>
        </p:nvSpPr>
        <p:spPr>
          <a:xfrm>
            <a:off x="6400800" y="2651760"/>
            <a:ext cx="4876495" cy="658368"/>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2563EB"/>
                </a:solidFill>
              </a:defRPr>
            </a:pPr>
            <a:r>
              <a:t>TẬP HUẤN LUYỆN (Train - 66,7%):</a:t>
            </a:r>
          </a:p>
          <a:p>
            <a:pPr>
              <a:defRPr sz="1000">
                <a:solidFill>
                  <a:srgbClr val="0F172A"/>
                </a:solidFill>
              </a:defRPr>
            </a:pPr>
            <a:r>
              <a:t>4 người nói (jackson, nicolas, theo, yweweler) – 2.000 file</a:t>
            </a:r>
          </a:p>
        </p:txBody>
      </p:sp>
      <p:sp>
        <p:nvSpPr>
          <p:cNvPr id="19" name="Rounded Rectangle 18"/>
          <p:cNvSpPr/>
          <p:nvPr/>
        </p:nvSpPr>
        <p:spPr>
          <a:xfrm>
            <a:off x="6400800" y="3364991"/>
            <a:ext cx="4876495" cy="658368"/>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EA580C"/>
                </a:solidFill>
              </a:defRPr>
            </a:pPr>
            <a:r>
              <a:t>TẬP THẨM ĐỊNH (Val - 16,7%):</a:t>
            </a:r>
          </a:p>
          <a:p>
            <a:pPr>
              <a:defRPr sz="1000">
                <a:solidFill>
                  <a:srgbClr val="0F172A"/>
                </a:solidFill>
              </a:defRPr>
            </a:pPr>
            <a:r>
              <a:t>1 người nói (george) – 500 file (chọn epoch &amp; tuning baseline)</a:t>
            </a:r>
          </a:p>
        </p:txBody>
      </p:sp>
      <p:sp>
        <p:nvSpPr>
          <p:cNvPr id="20" name="Rounded Rectangle 19"/>
          <p:cNvSpPr/>
          <p:nvPr/>
        </p:nvSpPr>
        <p:spPr>
          <a:xfrm>
            <a:off x="6400800" y="4078224"/>
            <a:ext cx="4876495" cy="658368"/>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DC2626"/>
                </a:solidFill>
              </a:defRPr>
            </a:pPr>
            <a:r>
              <a:t>TẬP KIỂM THỬ (Test - 16,7%):</a:t>
            </a:r>
          </a:p>
          <a:p>
            <a:pPr>
              <a:defRPr sz="1000">
                <a:solidFill>
                  <a:srgbClr val="0F172A"/>
                </a:solidFill>
              </a:defRPr>
            </a:pPr>
            <a:r>
              <a:t>1 người nói (lucas) – 500 file (kiểm thử độc lập tuyệt đối)</a:t>
            </a:r>
          </a:p>
        </p:txBody>
      </p:sp>
      <p:sp>
        <p:nvSpPr>
          <p:cNvPr id="21" name="Rectangle 20"/>
          <p:cNvSpPr/>
          <p:nvPr/>
        </p:nvSpPr>
        <p:spPr>
          <a:xfrm>
            <a:off x="6400800" y="4937760"/>
            <a:ext cx="4876495" cy="1143000"/>
          </a:xfrm>
          <a:prstGeom prst="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KIỂM SOÁT RÒ RỈ DỮ LIỆU (DATA LEAKAGE)</a:t>
            </a:r>
          </a:p>
          <a:p>
            <a:pPr>
              <a:defRPr sz="1100">
                <a:solidFill>
                  <a:srgbClr val="0F172A"/>
                </a:solidFill>
                <a:latin typeface="Calibri"/>
              </a:defRPr>
            </a:pPr>
            <a:r>
              <a:t>Việc phân chia người nói độc lập (Speaker-disjoint) được thực hiện TRƯỚC mọi bước thêm nhiễu và trích xuất đặc trưng, ngăn ngừa triệt để hiện tượng rò rỉ âm sắc người nói.</a:t>
            </a:r>
          </a:p>
        </p:txBody>
      </p:sp>
      <p:sp>
        <p:nvSpPr>
          <p:cNvPr id="22" name="Rectangle 21"/>
          <p:cNvSpPr/>
          <p:nvPr/>
        </p:nvSpPr>
        <p:spPr>
          <a:xfrm>
            <a:off x="6400800" y="4937760"/>
            <a:ext cx="109728" cy="1143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6" name="Rounded Rectangle 25"/>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4 / 22</a:t>
            </a:r>
          </a:p>
        </p:txBody>
      </p:sp>
      <p:sp>
        <p:nvSpPr>
          <p:cNvPr id="27" name="TextBox 26"/>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2.2. QUY TRÌNH PHỐI TRỘN NHIỄU CÓ KIỂM SOÁT NĂNG LƯỢNG</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Nguồn nhiễu AWGN &amp; Babble, công thức tính hệ số α và bảo toàn biên độ</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DẠNG SÓNG THỰC TẾ: CLEAN VS NOISY 0 DB</a:t>
            </a:r>
          </a:p>
        </p:txBody>
      </p:sp>
      <p:pic>
        <p:nvPicPr>
          <p:cNvPr id="10" name="Picture 9" descr="hinh_2_2_waveform_demo.png"/>
          <p:cNvPicPr>
            <a:picLocks noChangeAspect="1"/>
          </p:cNvPicPr>
          <p:nvPr/>
        </p:nvPicPr>
        <p:blipFill>
          <a:blip r:embed="rId2"/>
          <a:stretch>
            <a:fillRect/>
          </a:stretch>
        </p:blipFill>
        <p:spPr>
          <a:xfrm>
            <a:off x="868680" y="2085184"/>
            <a:ext cx="4937760" cy="3190552"/>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2.2. Dạng sóng thời gian: Clean Speech vs Noisy Speech AWGN 0 dB.</a:t>
            </a:r>
          </a:p>
        </p:txBody>
      </p:sp>
      <p:sp>
        <p:nvSpPr>
          <p:cNvPr id="12" name="Rounded Rectangle 11"/>
          <p:cNvSpPr/>
          <p:nvPr/>
        </p:nvSpPr>
        <p:spPr>
          <a:xfrm>
            <a:off x="6217920" y="1325880"/>
            <a:ext cx="5242255" cy="48920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CƠ CHẾ PHỐI TRỘN VÀ TÍNH TOÁN SNR</a:t>
            </a:r>
          </a:p>
        </p:txBody>
      </p:sp>
      <p:sp>
        <p:nvSpPr>
          <p:cNvPr id="14" name="Rounded Rectangle 13"/>
          <p:cNvSpPr/>
          <p:nvPr/>
        </p:nvSpPr>
        <p:spPr>
          <a:xfrm>
            <a:off x="6400800" y="1828800"/>
            <a:ext cx="4876495" cy="77724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50">
                <a:solidFill>
                  <a:srgbClr val="7C3AED"/>
                </a:solidFill>
              </a:defRPr>
            </a:pPr>
            <a:r>
              <a:t>Nhiễu trắng Gauss (AWGN):</a:t>
            </a:r>
          </a:p>
          <a:p>
            <a:pPr>
              <a:defRPr sz="1000">
                <a:solidFill>
                  <a:srgbClr val="0F172A"/>
                </a:solidFill>
              </a:defRPr>
            </a:pPr>
            <a:r>
              <a:t>Phổ phẳng tĩnh, năng lượng phân bố đều trên mọi tần số, dễ mô hình hóa nhưng mang tính chất lý tưởng hóa môi trường.</a:t>
            </a:r>
          </a:p>
        </p:txBody>
      </p:sp>
      <p:sp>
        <p:nvSpPr>
          <p:cNvPr id="15" name="Rounded Rectangle 14"/>
          <p:cNvSpPr/>
          <p:nvPr/>
        </p:nvSpPr>
        <p:spPr>
          <a:xfrm>
            <a:off x="6400800" y="2697480"/>
            <a:ext cx="4876495" cy="77724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50">
                <a:solidFill>
                  <a:srgbClr val="EA580C"/>
                </a:solidFill>
              </a:defRPr>
            </a:pPr>
            <a:r>
              <a:t>Nhiễu tạp âm đám đông (Babble):</a:t>
            </a:r>
          </a:p>
          <a:p>
            <a:pPr>
              <a:defRPr sz="1000">
                <a:solidFill>
                  <a:srgbClr val="0F172A"/>
                </a:solidFill>
              </a:defRPr>
            </a:pPr>
            <a:r>
              <a:t>Nhiễu đàm thoại nhiều người nói phi dừng (non-stationary), trùng hoàn toàn dải tần số giọng nói (300 – 3.400 Hz), rất khó lọc.</a:t>
            </a:r>
          </a:p>
        </p:txBody>
      </p:sp>
      <p:sp>
        <p:nvSpPr>
          <p:cNvPr id="16" name="Rounded Rectangle 15"/>
          <p:cNvSpPr/>
          <p:nvPr/>
        </p:nvSpPr>
        <p:spPr>
          <a:xfrm>
            <a:off x="6400800" y="3657600"/>
            <a:ext cx="4876495" cy="105156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b="1" sz="1100">
                <a:solidFill>
                  <a:srgbClr val="17365D"/>
                </a:solidFill>
              </a:defRPr>
            </a:pPr>
            <a:r>
              <a:t>CÔNG THỨC TÍNH HỆ SỐ PHỐI TRỘN α:</a:t>
            </a:r>
          </a:p>
          <a:p>
            <a:pPr algn="ctr">
              <a:defRPr b="1" sz="1300">
                <a:solidFill>
                  <a:srgbClr val="2563EB"/>
                </a:solidFill>
              </a:defRPr>
            </a:pPr>
            <a:r>
              <a:t>y[n] = s[n] + α v[n],    α = √( Es / (Ev · 10^(SNR/10)) )</a:t>
            </a:r>
          </a:p>
          <a:p>
            <a:pPr algn="ctr">
              <a:defRPr sz="1000">
                <a:solidFill>
                  <a:srgbClr val="0F172A"/>
                </a:solidFill>
              </a:defRPr>
            </a:pPr>
            <a:r>
              <a:t>3 mức SNR: 0 dB (nặng), 5 dB (trung bình), 10 dB (nhẹ) → 6 điều kiện kiểm thử</a:t>
            </a:r>
          </a:p>
        </p:txBody>
      </p:sp>
      <p:sp>
        <p:nvSpPr>
          <p:cNvPr id="17" name="Rectangle 16"/>
          <p:cNvSpPr/>
          <p:nvPr/>
        </p:nvSpPr>
        <p:spPr>
          <a:xfrm>
            <a:off x="6400800" y="4846320"/>
            <a:ext cx="4876495" cy="1234440"/>
          </a:xfrm>
          <a:prstGeom prst="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BẢO TOÀN MỨC SNR THỰC NGHIỆM</a:t>
            </a:r>
          </a:p>
          <a:p>
            <a:pPr>
              <a:defRPr sz="1100">
                <a:solidFill>
                  <a:srgbClr val="0F172A"/>
                </a:solidFill>
                <a:latin typeface="Calibri"/>
              </a:defRPr>
            </a:pPr>
            <a:r>
              <a:t>Nhiễu được nhân hệ số α theo tỷ lệ năng lượng thực của từng file âm thanh. Tuyệt đối không chuẩn hóa độc lập biên độ sau khi trộn để tránh làm biến dạng mức SNR thực nghiệm.</a:t>
            </a:r>
          </a:p>
        </p:txBody>
      </p:sp>
      <p:sp>
        <p:nvSpPr>
          <p:cNvPr id="18" name="Rectangle 17"/>
          <p:cNvSpPr/>
          <p:nvPr/>
        </p:nvSpPr>
        <p:spPr>
          <a:xfrm>
            <a:off x="6400800" y="4846320"/>
            <a:ext cx="109728" cy="1234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2" name="Rounded Rectangle 21"/>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5 / 22</a:t>
            </a:r>
          </a:p>
        </p:txBody>
      </p:sp>
      <p:sp>
        <p:nvSpPr>
          <p:cNvPr id="23" name="TextBox 22"/>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2.3. TRÍCH XUẤT ĐẶC TRƯNG VÀ BIỂU DIỄN PHỔ LOG-MEL</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Biến đổi Fourier thời gian ngắn (STFT) và ngân hàng bộ lọc Mel 64 băng</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BIỂU DIỄN PHỔ LOG-MEL THỜI GIAN - TẦN SỐ</a:t>
            </a:r>
          </a:p>
        </p:txBody>
      </p:sp>
      <p:pic>
        <p:nvPicPr>
          <p:cNvPr id="10" name="Picture 9" descr="hinh_2_3_logmel_demo.png"/>
          <p:cNvPicPr>
            <a:picLocks noChangeAspect="1"/>
          </p:cNvPicPr>
          <p:nvPr/>
        </p:nvPicPr>
        <p:blipFill>
          <a:blip r:embed="rId2"/>
          <a:stretch>
            <a:fillRect/>
          </a:stretch>
        </p:blipFill>
        <p:spPr>
          <a:xfrm>
            <a:off x="868680" y="2350129"/>
            <a:ext cx="4937760" cy="2660661"/>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2.3. Phổ Log-mel chuẩn hóa: Clean Xs (trái) vs Noisy Xy (phải).</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THÔNG SỐ TRÍCH XUẤT &amp; CHUẨN HÓA</a:t>
            </a:r>
          </a:p>
        </p:txBody>
      </p:sp>
      <p:sp>
        <p:nvSpPr>
          <p:cNvPr id="14" name="Rounded Rectangle 13"/>
          <p:cNvSpPr/>
          <p:nvPr/>
        </p:nvSpPr>
        <p:spPr>
          <a:xfrm>
            <a:off x="6400800" y="1828800"/>
            <a:ext cx="1143000" cy="68580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0D9488"/>
                </a:solidFill>
                <a:latin typeface="Calibri"/>
              </a:defRPr>
            </a:pPr>
            <a:r>
              <a:t>64</a:t>
            </a:r>
          </a:p>
          <a:p>
            <a:pPr algn="ctr">
              <a:defRPr sz="950" b="1">
                <a:solidFill>
                  <a:srgbClr val="0F172A"/>
                </a:solidFill>
                <a:latin typeface="Calibri"/>
              </a:defRPr>
            </a:pPr>
            <a:r>
              <a:t>Băng lọc Mel</a:t>
            </a:r>
          </a:p>
        </p:txBody>
      </p:sp>
      <p:sp>
        <p:nvSpPr>
          <p:cNvPr id="15" name="Rounded Rectangle 14"/>
          <p:cNvSpPr/>
          <p:nvPr/>
        </p:nvSpPr>
        <p:spPr>
          <a:xfrm>
            <a:off x="7635240" y="1828800"/>
            <a:ext cx="1143000" cy="68580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2563EB"/>
                </a:solidFill>
                <a:latin typeface="Calibri"/>
              </a:defRPr>
            </a:pPr>
            <a:r>
              <a:t>512</a:t>
            </a:r>
          </a:p>
          <a:p>
            <a:pPr algn="ctr">
              <a:defRPr sz="950" b="1">
                <a:solidFill>
                  <a:srgbClr val="0F172A"/>
                </a:solidFill>
                <a:latin typeface="Calibri"/>
              </a:defRPr>
            </a:pPr>
            <a:r>
              <a:t>FFT (64 ms)</a:t>
            </a:r>
          </a:p>
        </p:txBody>
      </p:sp>
      <p:sp>
        <p:nvSpPr>
          <p:cNvPr id="16" name="Rounded Rectangle 15"/>
          <p:cNvSpPr/>
          <p:nvPr/>
        </p:nvSpPr>
        <p:spPr>
          <a:xfrm>
            <a:off x="8869680" y="1828800"/>
            <a:ext cx="1143000" cy="68580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7C3AED"/>
                </a:solidFill>
                <a:latin typeface="Calibri"/>
              </a:defRPr>
            </a:pPr>
            <a:r>
              <a:t>128</a:t>
            </a:r>
          </a:p>
          <a:p>
            <a:pPr algn="ctr">
              <a:defRPr sz="950" b="1">
                <a:solidFill>
                  <a:srgbClr val="0F172A"/>
                </a:solidFill>
                <a:latin typeface="Calibri"/>
              </a:defRPr>
            </a:pPr>
            <a:r>
              <a:t>Hop (16 ms)</a:t>
            </a:r>
          </a:p>
        </p:txBody>
      </p:sp>
      <p:sp>
        <p:nvSpPr>
          <p:cNvPr id="17" name="Rounded Rectangle 16"/>
          <p:cNvSpPr/>
          <p:nvPr/>
        </p:nvSpPr>
        <p:spPr>
          <a:xfrm>
            <a:off x="10104120" y="1828800"/>
            <a:ext cx="1143000" cy="68580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EA580C"/>
                </a:solidFill>
                <a:latin typeface="Calibri"/>
              </a:defRPr>
            </a:pPr>
            <a:r>
              <a:t>64×64</a:t>
            </a:r>
          </a:p>
          <a:p>
            <a:pPr algn="ctr">
              <a:defRPr sz="950" b="1">
                <a:solidFill>
                  <a:srgbClr val="0F172A"/>
                </a:solidFill>
                <a:latin typeface="Calibri"/>
              </a:defRPr>
            </a:pPr>
            <a:r>
              <a:t>Tensor vào</a:t>
            </a:r>
          </a:p>
        </p:txBody>
      </p:sp>
      <p:sp>
        <p:nvSpPr>
          <p:cNvPr id="18" name="TextBox 17"/>
          <p:cNvSpPr txBox="1"/>
          <p:nvPr/>
        </p:nvSpPr>
        <p:spPr>
          <a:xfrm>
            <a:off x="6400800" y="2606040"/>
            <a:ext cx="4876495" cy="2011680"/>
          </a:xfrm>
          <a:prstGeom prst="rect">
            <a:avLst/>
          </a:prstGeom>
          <a:noFill/>
        </p:spPr>
        <p:txBody>
          <a:bodyPr wrap="square">
            <a:spAutoFit/>
          </a:bodyPr>
          <a:lstStyle/>
          <a:p>
            <a:pPr>
              <a:spcAft>
                <a:spcPts val="400"/>
              </a:spcAft>
            </a:pPr>
            <a:r>
              <a:rPr b="1" sz="1100">
                <a:solidFill>
                  <a:srgbClr val="17365D"/>
                </a:solidFill>
              </a:rPr>
              <a:t>• Cửa sổ phân tích: </a:t>
            </a:r>
            <a:r>
              <a:rPr sz="1100">
                <a:solidFill>
                  <a:srgbClr val="0F172A"/>
                </a:solidFill>
              </a:rPr>
              <a:t>Hanning đối xứng, bước trượt 16 ms (overlap 75%)</a:t>
            </a:r>
          </a:p>
          <a:p>
            <a:pPr>
              <a:spcAft>
                <a:spcPts val="400"/>
              </a:spcAft>
            </a:pPr>
            <a:r>
              <a:rPr b="1" sz="1100">
                <a:solidFill>
                  <a:srgbClr val="17365D"/>
                </a:solidFill>
              </a:rPr>
              <a:t>• Dải tần số quan tâm: </a:t>
            </a:r>
            <a:r>
              <a:rPr sz="1100">
                <a:solidFill>
                  <a:srgbClr val="0F172A"/>
                </a:solidFill>
              </a:rPr>
              <a:t>0 – 4.000 Hz (phù hợp tần số lấy mẫu Nyquist 8 kHz)</a:t>
            </a:r>
          </a:p>
          <a:p>
            <a:pPr>
              <a:spcAft>
                <a:spcPts val="400"/>
              </a:spcAft>
            </a:pPr>
            <a:r>
              <a:rPr b="1" sz="1100">
                <a:solidFill>
                  <a:srgbClr val="17365D"/>
                </a:solidFill>
              </a:rPr>
              <a:t>• Định dạng khung hình: </a:t>
            </a:r>
            <a:r>
              <a:rPr sz="1100">
                <a:solidFill>
                  <a:srgbClr val="0F172A"/>
                </a:solidFill>
              </a:rPr>
              <a:t>63 khung hợp lệ + 1 cột zero-padding = 64 khung thời gian</a:t>
            </a:r>
          </a:p>
          <a:p>
            <a:pPr>
              <a:spcAft>
                <a:spcPts val="400"/>
              </a:spcAft>
            </a:pPr>
            <a:r>
              <a:rPr b="1" sz="1100">
                <a:solidFill>
                  <a:srgbClr val="17365D"/>
                </a:solidFill>
              </a:rPr>
              <a:t>• Chuẩn hóa Z-score toàn cục: </a:t>
            </a:r>
            <a:r>
              <a:rPr sz="1100">
                <a:solidFill>
                  <a:srgbClr val="0F172A"/>
                </a:solidFill>
              </a:rPr>
              <a:t>μ = -5,0184,  σ = 1,4892 (tính cố định trên tập Train)</a:t>
            </a:r>
          </a:p>
        </p:txBody>
      </p:sp>
      <p:sp>
        <p:nvSpPr>
          <p:cNvPr id="19" name="Rectangle 18"/>
          <p:cNvSpPr/>
          <p:nvPr/>
        </p:nvSpPr>
        <p:spPr>
          <a:xfrm>
            <a:off x="6400800" y="4709160"/>
            <a:ext cx="4876495" cy="1371600"/>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BẢN CHẤT ÁNH XẠ KHỬ NHIỄU</a:t>
            </a:r>
          </a:p>
          <a:p>
            <a:pPr>
              <a:defRPr sz="1100">
                <a:solidFill>
                  <a:srgbClr val="0F172A"/>
                </a:solidFill>
                <a:latin typeface="Calibri"/>
              </a:defRPr>
            </a:pPr>
            <a:r>
              <a:t>U-Net học ánh xạ phi tuyến từ ma trận Noisy Log-mel Xy sang Clean Log-mel Xs. Biểu diễn Log-mel nén số chiều phổ từ 257 bin FFT xuống 64 băng Mel, mô phỏng tai người và giảm mạnh chi phí bộ nhớ cho chip biên.</a:t>
            </a:r>
          </a:p>
        </p:txBody>
      </p:sp>
      <p:sp>
        <p:nvSpPr>
          <p:cNvPr id="20" name="Rectangle 19"/>
          <p:cNvSpPr/>
          <p:nvPr/>
        </p:nvSpPr>
        <p:spPr>
          <a:xfrm>
            <a:off x="6400800" y="4709160"/>
            <a:ext cx="109728" cy="1371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4" name="Rounded Rectangle 23"/>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6 / 22</a:t>
            </a:r>
          </a:p>
        </p:txBody>
      </p:sp>
      <p:sp>
        <p:nvSpPr>
          <p:cNvPr id="25" name="TextBox 24"/>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3.1. KHUNG QUY TRÌNH THỰC NGHIỆM VÀ ĐỐI CHỨNG TOÀN CHUỖI</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Luồng xử lý từ tín hiệu thô đến khâu đánh giá khách quan độc lập</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SƠ ĐỒ KHỐI QUY TRÌNH THỰC NGHIỆM TOÀN CHUỖI</a:t>
            </a:r>
          </a:p>
        </p:txBody>
      </p:sp>
      <p:pic>
        <p:nvPicPr>
          <p:cNvPr id="10" name="Picture 9" descr="hinh_3_1_pipeline_diagram.png"/>
          <p:cNvPicPr>
            <a:picLocks noChangeAspect="1"/>
          </p:cNvPicPr>
          <p:nvPr/>
        </p:nvPicPr>
        <p:blipFill>
          <a:blip r:embed="rId2"/>
          <a:stretch>
            <a:fillRect/>
          </a:stretch>
        </p:blipFill>
        <p:spPr>
          <a:xfrm>
            <a:off x="868680" y="2058972"/>
            <a:ext cx="4937760" cy="3242976"/>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3.1. Sơ đồ khối quy trình thực nghiệm toàn chuỗi đối chứng bốn phương pháp.</a:t>
            </a:r>
          </a:p>
        </p:txBody>
      </p:sp>
      <p:sp>
        <p:nvSpPr>
          <p:cNvPr id="12" name="Rounded Rectangle 11"/>
          <p:cNvSpPr/>
          <p:nvPr/>
        </p:nvSpPr>
        <p:spPr>
          <a:xfrm>
            <a:off x="6217920" y="1325880"/>
            <a:ext cx="5242255"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BA NGUYÊN TẮC QUY TRÌNH NGHIÊM NGẶT</a:t>
            </a:r>
          </a:p>
        </p:txBody>
      </p:sp>
      <p:sp>
        <p:nvSpPr>
          <p:cNvPr id="14" name="Rectangle 13"/>
          <p:cNvSpPr/>
          <p:nvPr/>
        </p:nvSpPr>
        <p:spPr>
          <a:xfrm>
            <a:off x="6400800" y="1828800"/>
            <a:ext cx="4876495" cy="1298448"/>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1. ĐẦU VÀO ĐỒNG NHẤT CHO CẢ 4 PHƯƠNG PHÁP</a:t>
            </a:r>
          </a:p>
          <a:p>
            <a:pPr>
              <a:defRPr sz="1100">
                <a:solidFill>
                  <a:srgbClr val="0F172A"/>
                </a:solidFill>
                <a:latin typeface="Calibri"/>
              </a:defRPr>
            </a:pPr>
            <a:r>
              <a:t>Cùng một tín hiệu âm thanh có nhiễu y[n] được đưa song song vào Noisy, Spectral Subtraction, Wiener DD và U-Net 2D DAE mà không có bất kỳ tiền xử lý riêng biệt nào làm lệch điều kiện đầu vào.</a:t>
            </a:r>
          </a:p>
        </p:txBody>
      </p:sp>
      <p:sp>
        <p:nvSpPr>
          <p:cNvPr id="15" name="Rectangle 14"/>
          <p:cNvSpPr/>
          <p:nvPr/>
        </p:nvSpPr>
        <p:spPr>
          <a:xfrm>
            <a:off x="6400800" y="1828800"/>
            <a:ext cx="109728" cy="12984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3246120"/>
            <a:ext cx="4876495" cy="1298448"/>
          </a:xfrm>
          <a:prstGeom prst="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2. KHOẢNG HIỆU CHUẨN NHIỄU (NOISE PREFIX)</a:t>
            </a:r>
          </a:p>
          <a:p>
            <a:pPr>
              <a:defRPr sz="1100">
                <a:solidFill>
                  <a:srgbClr val="0F172A"/>
                </a:solidFill>
                <a:latin typeface="Calibri"/>
              </a:defRPr>
            </a:pPr>
            <a:r>
              <a:t>Tín hiệu được bổ sung 0,25 s (2.000 mẫu) tiền tố nhiễu thuần túy. Hai phương pháp baseline cổ điển sử dụng tiền tố này để ước lượng phổ nhiễu D_hat(f) phục vụ tính toán trừ phổ và lọc Wiener.</a:t>
            </a:r>
          </a:p>
        </p:txBody>
      </p:sp>
      <p:sp>
        <p:nvSpPr>
          <p:cNvPr id="17" name="Rectangle 16"/>
          <p:cNvSpPr/>
          <p:nvPr/>
        </p:nvSpPr>
        <p:spPr>
          <a:xfrm>
            <a:off x="6400800" y="3246120"/>
            <a:ext cx="109728"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4663440"/>
            <a:ext cx="4876495" cy="1298448"/>
          </a:xfrm>
          <a:prstGeom prst="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3. TÍN HIỆU CLEAN CHỈ DÙNG ĐÁNH GIÁ CUỐI CÙNG</a:t>
            </a:r>
          </a:p>
          <a:p>
            <a:pPr>
              <a:defRPr sz="1100">
                <a:solidFill>
                  <a:srgbClr val="0F172A"/>
                </a:solidFill>
                <a:latin typeface="Calibri"/>
              </a:defRPr>
            </a:pPr>
            <a:r>
              <a:t>Tín hiệu sạch gốc s[n] hoàn toàn không tham gia vào quá trình suy luận của bất kỳ phương pháp nào, chỉ được đưa vào giai đoạn đánh giá độc lập để tính toán các chỉ số khách quan: SNR gain, PESQ và STOI.</a:t>
            </a:r>
          </a:p>
        </p:txBody>
      </p:sp>
      <p:sp>
        <p:nvSpPr>
          <p:cNvPr id="19" name="Rectangle 18"/>
          <p:cNvSpPr/>
          <p:nvPr/>
        </p:nvSpPr>
        <p:spPr>
          <a:xfrm>
            <a:off x="6400800" y="4663440"/>
            <a:ext cx="109728" cy="12984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3" name="Rounded Rectangle 22"/>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7 / 22</a:t>
            </a:r>
          </a:p>
        </p:txBody>
      </p:sp>
      <p:sp>
        <p:nvSpPr>
          <p:cNvPr id="24" name="TextBox 23"/>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3.2. CƠ CHẾ HOẠT ĐỘNG CỦA CÁC PHƯƠNG PHÁP BASELINE CỔ ĐIỂN</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Nguyên lý toán học, không gian tìm kiếm tham số và kết quả tối ưu trên tập Validation</a:t>
            </a:r>
          </a:p>
        </p:txBody>
      </p:sp>
      <p:sp>
        <p:nvSpPr>
          <p:cNvPr id="8" name="Rounded Rectangle 7"/>
          <p:cNvSpPr/>
          <p:nvPr/>
        </p:nvSpPr>
        <p:spPr>
          <a:xfrm>
            <a:off x="731520" y="1325880"/>
            <a:ext cx="5212080" cy="411480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SPECTRAL SUBTRACTION (BOLL, 1979)</a:t>
            </a:r>
          </a:p>
        </p:txBody>
      </p:sp>
      <p:sp>
        <p:nvSpPr>
          <p:cNvPr id="10" name="TextBox 9"/>
          <p:cNvSpPr txBox="1"/>
          <p:nvPr/>
        </p:nvSpPr>
        <p:spPr>
          <a:xfrm>
            <a:off x="914400" y="1828800"/>
            <a:ext cx="4846320" cy="3474720"/>
          </a:xfrm>
          <a:prstGeom prst="rect">
            <a:avLst/>
          </a:prstGeom>
          <a:noFill/>
        </p:spPr>
        <p:txBody>
          <a:bodyPr wrap="square">
            <a:spAutoFit/>
          </a:bodyPr>
          <a:lstStyle/>
          <a:p>
            <a:pPr>
              <a:spcAft>
                <a:spcPts val="600"/>
              </a:spcAft>
              <a:defRPr b="1" sz="1300">
                <a:solidFill>
                  <a:srgbClr val="16A34A"/>
                </a:solidFill>
              </a:defRPr>
            </a:pPr>
            <a:r>
              <a:t>P̂_SS(t, f) = max( |Y(t, f)|² - α_SS D̂(f),  β_SS |Y(t, f)|² )</a:t>
            </a:r>
          </a:p>
          <a:p>
            <a:pPr>
              <a:spcAft>
                <a:spcPts val="800"/>
              </a:spcAft>
              <a:defRPr sz="1100">
                <a:solidFill>
                  <a:srgbClr val="0F172A"/>
                </a:solidFill>
              </a:defRPr>
            </a:pPr>
            <a:r>
              <a:t>• Nguyên lý: Trừ mật độ phổ công suất nhiễu D̂(f) khỏi phổ tín hiệu quan sát |Y|².</a:t>
            </a:r>
            <a:br/>
            <a:r>
              <a:t>• α_SS: Hệ số trừ quá mức;  β_SS: Hệ số sàn phổ giúp giảm tiếng ồn nhạc.</a:t>
            </a:r>
            <a:br/>
            <a:r>
              <a:t>• Khảo sát lưới trên tập Validation (người nói george):</a:t>
            </a:r>
            <a:br/>
            <a:r>
              <a:t>  - α_SS ∈ {1.0, 1.5, 2.0}    - β_SS ∈ {0.01, 0.03, 0.05}</a:t>
            </a:r>
          </a:p>
        </p:txBody>
      </p:sp>
      <p:sp>
        <p:nvSpPr>
          <p:cNvPr id="11" name="Rounded Rectangle 10"/>
          <p:cNvSpPr/>
          <p:nvPr/>
        </p:nvSpPr>
        <p:spPr>
          <a:xfrm>
            <a:off x="914400" y="4297680"/>
            <a:ext cx="4846320" cy="73152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16A34A"/>
                </a:solidFill>
              </a:defRPr>
            </a:pPr>
            <a:r>
              <a:t>✓ THAM SỐ TỐI ƯU: α_SS = 1.0,  β_SS = 0.01</a:t>
            </a:r>
            <a:br/>
            <a:r>
              <a:t>(Đạt SNR gain trung bình Validation cao nhất = 4,452 dB)</a:t>
            </a:r>
          </a:p>
        </p:txBody>
      </p:sp>
      <p:sp>
        <p:nvSpPr>
          <p:cNvPr id="12" name="Rounded Rectangle 11"/>
          <p:cNvSpPr/>
          <p:nvPr/>
        </p:nvSpPr>
        <p:spPr>
          <a:xfrm>
            <a:off x="6217920" y="1325880"/>
            <a:ext cx="5242255" cy="41148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WIENER DECISION-DIRECTED (EPHRAIM &amp; MALAH, 1984)</a:t>
            </a:r>
          </a:p>
        </p:txBody>
      </p:sp>
      <p:sp>
        <p:nvSpPr>
          <p:cNvPr id="14" name="TextBox 13"/>
          <p:cNvSpPr txBox="1"/>
          <p:nvPr/>
        </p:nvSpPr>
        <p:spPr>
          <a:xfrm>
            <a:off x="6400800" y="1828800"/>
            <a:ext cx="4876495" cy="3474720"/>
          </a:xfrm>
          <a:prstGeom prst="rect">
            <a:avLst/>
          </a:prstGeom>
          <a:noFill/>
        </p:spPr>
        <p:txBody>
          <a:bodyPr wrap="square">
            <a:spAutoFit/>
          </a:bodyPr>
          <a:lstStyle/>
          <a:p>
            <a:pPr>
              <a:spcAft>
                <a:spcPts val="600"/>
              </a:spcAft>
              <a:defRPr b="1" sz="1200">
                <a:solidFill>
                  <a:srgbClr val="7C3AED"/>
                </a:solidFill>
              </a:defRPr>
            </a:pPr>
            <a:r>
              <a:t>G_DD(t, f) = ξ̂(t, f) / (1 + ξ̂(t, f))</a:t>
            </a:r>
            <a:br/>
            <a:r>
              <a:t>ξ̂(t, f) = α_DD (|Ŝ(t-1, f)|²/D̂(f)) + (1-α_DD) max(γ(t, f)-1, 0)</a:t>
            </a:r>
          </a:p>
          <a:p>
            <a:pPr>
              <a:spcAft>
                <a:spcPts val="800"/>
              </a:spcAft>
              <a:defRPr sz="1100">
                <a:solidFill>
                  <a:srgbClr val="0F172A"/>
                </a:solidFill>
              </a:defRPr>
            </a:pPr>
            <a:r>
              <a:t>• Nguyên lý: Lọc Wiener tối ưu kết hợp ước lượng SNR a priori ξ̂(t, f) theo thời gian.</a:t>
            </a:r>
            <a:br/>
            <a:r>
              <a:t>• α_DD: Hệ số làm mịn thời gian của quy tắc Decision-Directed.</a:t>
            </a:r>
            <a:br/>
            <a:r>
              <a:t>• Khảo sát lưới trên tập Validation (người nói george):</a:t>
            </a:r>
            <a:br/>
            <a:r>
              <a:t>  - α_DD ∈ {0.90, 0.95, 0.98}</a:t>
            </a:r>
          </a:p>
        </p:txBody>
      </p:sp>
      <p:sp>
        <p:nvSpPr>
          <p:cNvPr id="15" name="Rounded Rectangle 14"/>
          <p:cNvSpPr/>
          <p:nvPr/>
        </p:nvSpPr>
        <p:spPr>
          <a:xfrm>
            <a:off x="6400800" y="4297680"/>
            <a:ext cx="4876495" cy="73152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7C3AED"/>
                </a:solidFill>
              </a:defRPr>
            </a:pPr>
            <a:r>
              <a:t>✓ THAM SỐ TỐI ƯU: α_DD = 0.98</a:t>
            </a:r>
            <a:br/>
            <a:r>
              <a:t>(Đạt SNR gain trung bình Validation cao nhất = 4,775 dB)</a:t>
            </a:r>
          </a:p>
        </p:txBody>
      </p:sp>
      <p:sp>
        <p:nvSpPr>
          <p:cNvPr id="16" name="Rectangle 15"/>
          <p:cNvSpPr/>
          <p:nvPr/>
        </p:nvSpPr>
        <p:spPr>
          <a:xfrm>
            <a:off x="731520" y="5532120"/>
            <a:ext cx="10728655" cy="777240"/>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TÍNH KHÁCH QUAN TRONG CHỌN SIÊU THAM SỐ</a:t>
            </a:r>
          </a:p>
          <a:p>
            <a:pPr>
              <a:defRPr sz="1100">
                <a:solidFill>
                  <a:srgbClr val="0F172A"/>
                </a:solidFill>
                <a:latin typeface="Calibri"/>
              </a:defRPr>
            </a:pPr>
            <a:r>
              <a:t>Toàn bộ siêu tham số của hai baseline được tối ưu hóa và cố định hoàn toàn trên tập Validation (người nói george). Tuyệt đối không tinh chỉnh lại trên tập Test (người nói lucas).</a:t>
            </a:r>
          </a:p>
        </p:txBody>
      </p:sp>
      <p:sp>
        <p:nvSpPr>
          <p:cNvPr id="17" name="Rectangle 16"/>
          <p:cNvSpPr/>
          <p:nvPr/>
        </p:nvSpPr>
        <p:spPr>
          <a:xfrm>
            <a:off x="731520" y="5532120"/>
            <a:ext cx="10972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1" name="Rounded Rectangle 20"/>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8 / 22</a:t>
            </a:r>
          </a:p>
        </p:txBody>
      </p:sp>
      <p:sp>
        <p:nvSpPr>
          <p:cNvPr id="22" name="TextBox 21"/>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3" action="ppaction://hlinksldjump"/>
              </a:rPr>
              <a:t>☰ Mục lục</a:t>
            </a:r>
            <a:r>
              <a:rPr sz="950">
                <a:solidFill>
                  <a:srgbClr val="475569"/>
                </a:solidFill>
                <a:latin typeface="Calibri"/>
              </a:rPr>
              <a:t>  |  </a:t>
            </a:r>
            <a:r>
              <a:rPr sz="950" b="1">
                <a:solidFill>
                  <a:srgbClr val="38BDF8"/>
                </a:solidFill>
                <a:latin typeface="Calibri"/>
                <a:hlinkClick r:id="rId4" action="ppaction://hlinksldjump"/>
              </a:rPr>
              <a:t>Trang sau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3.3. KIẾN TRÚC MẠNG NƠ-RON TÍCH CHẬP U-NET 2D DAE</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Thiết kế kiến trúc tự mã hóa khử nhiễu gọn nhẹ, không BatchNorm hướng tới thiết bị biên</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SƠ ĐỒ KIẾN TRÚC MẠNG U-NET 2D DAE</a:t>
            </a:r>
          </a:p>
        </p:txBody>
      </p:sp>
      <p:pic>
        <p:nvPicPr>
          <p:cNvPr id="10" name="Picture 9" descr="hinh_3_2_unet_architecture.png"/>
          <p:cNvPicPr>
            <a:picLocks noChangeAspect="1"/>
          </p:cNvPicPr>
          <p:nvPr/>
        </p:nvPicPr>
        <p:blipFill>
          <a:blip r:embed="rId2"/>
          <a:stretch>
            <a:fillRect/>
          </a:stretch>
        </p:blipFill>
        <p:spPr>
          <a:xfrm>
            <a:off x="868680" y="2356094"/>
            <a:ext cx="4937760" cy="2648732"/>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3.2. Sơ đồ kiến trúc mạng nơ-ron tích chập U-Net 2D DAE trên phổ Log-mel.</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THÔNG SỐ MÔ HÌNH VÀ TÀI NGUYÊN BỘ NHỚ</a:t>
            </a:r>
          </a:p>
        </p:txBody>
      </p:sp>
      <p:sp>
        <p:nvSpPr>
          <p:cNvPr id="14" name="Rounded Rectangle 13"/>
          <p:cNvSpPr/>
          <p:nvPr/>
        </p:nvSpPr>
        <p:spPr>
          <a:xfrm>
            <a:off x="6400800" y="1828800"/>
            <a:ext cx="1143000" cy="68580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2563EB"/>
                </a:solidFill>
                <a:latin typeface="Calibri"/>
              </a:defRPr>
            </a:pPr>
            <a:r>
              <a:t>449.489</a:t>
            </a:r>
          </a:p>
          <a:p>
            <a:pPr algn="ctr">
              <a:defRPr sz="950" b="1">
                <a:solidFill>
                  <a:srgbClr val="0F172A"/>
                </a:solidFill>
                <a:latin typeface="Calibri"/>
              </a:defRPr>
            </a:pPr>
            <a:r>
              <a:t>Tham số học</a:t>
            </a:r>
          </a:p>
        </p:txBody>
      </p:sp>
      <p:sp>
        <p:nvSpPr>
          <p:cNvPr id="15" name="Rounded Rectangle 14"/>
          <p:cNvSpPr/>
          <p:nvPr/>
        </p:nvSpPr>
        <p:spPr>
          <a:xfrm>
            <a:off x="7635240" y="1828800"/>
            <a:ext cx="1143000" cy="68580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0D9488"/>
                </a:solidFill>
                <a:latin typeface="Calibri"/>
              </a:defRPr>
            </a:pPr>
            <a:r>
              <a:t>1,80 MB</a:t>
            </a:r>
          </a:p>
          <a:p>
            <a:pPr algn="ctr">
              <a:defRPr sz="950" b="1">
                <a:solidFill>
                  <a:srgbClr val="0F172A"/>
                </a:solidFill>
                <a:latin typeface="Calibri"/>
              </a:defRPr>
            </a:pPr>
            <a:r>
              <a:t>Kích thước FP32</a:t>
            </a:r>
          </a:p>
        </p:txBody>
      </p:sp>
      <p:sp>
        <p:nvSpPr>
          <p:cNvPr id="16" name="Rounded Rectangle 15"/>
          <p:cNvSpPr/>
          <p:nvPr/>
        </p:nvSpPr>
        <p:spPr>
          <a:xfrm>
            <a:off x="8869680" y="1828800"/>
            <a:ext cx="1143000" cy="68580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7C3AED"/>
                </a:solidFill>
                <a:latin typeface="Calibri"/>
              </a:defRPr>
            </a:pPr>
            <a:r>
              <a:t>128×4×4</a:t>
            </a:r>
          </a:p>
          <a:p>
            <a:pPr algn="ctr">
              <a:defRPr sz="950" b="1">
                <a:solidFill>
                  <a:srgbClr val="0F172A"/>
                </a:solidFill>
                <a:latin typeface="Calibri"/>
              </a:defRPr>
            </a:pPr>
            <a:r>
              <a:t>Bottleneck</a:t>
            </a:r>
          </a:p>
        </p:txBody>
      </p:sp>
      <p:sp>
        <p:nvSpPr>
          <p:cNvPr id="17" name="Rounded Rectangle 16"/>
          <p:cNvSpPr/>
          <p:nvPr/>
        </p:nvSpPr>
        <p:spPr>
          <a:xfrm>
            <a:off x="10104120" y="1828800"/>
            <a:ext cx="1143000" cy="68580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EA580C"/>
                </a:solidFill>
                <a:latin typeface="Calibri"/>
              </a:defRPr>
            </a:pPr>
            <a:r>
              <a:t>0 BN</a:t>
            </a:r>
          </a:p>
          <a:p>
            <a:pPr algn="ctr">
              <a:defRPr sz="950" b="1">
                <a:solidFill>
                  <a:srgbClr val="0F172A"/>
                </a:solidFill>
                <a:latin typeface="Calibri"/>
              </a:defRPr>
            </a:pPr>
            <a:r>
              <a:t>Không BatchNorm</a:t>
            </a:r>
          </a:p>
        </p:txBody>
      </p:sp>
      <p:sp>
        <p:nvSpPr>
          <p:cNvPr id="18" name="TextBox 17"/>
          <p:cNvSpPr txBox="1"/>
          <p:nvPr/>
        </p:nvSpPr>
        <p:spPr>
          <a:xfrm>
            <a:off x="6400800" y="2606040"/>
            <a:ext cx="4876495" cy="2103120"/>
          </a:xfrm>
          <a:prstGeom prst="rect">
            <a:avLst/>
          </a:prstGeom>
          <a:noFill/>
        </p:spPr>
        <p:txBody>
          <a:bodyPr wrap="square">
            <a:spAutoFit/>
          </a:bodyPr>
          <a:lstStyle/>
          <a:p>
            <a:pPr>
              <a:spcAft>
                <a:spcPts val="300"/>
              </a:spcAft>
            </a:pPr>
            <a:r>
              <a:rPr b="1" sz="1100">
                <a:solidFill>
                  <a:srgbClr val="17365D"/>
                </a:solidFill>
              </a:rPr>
              <a:t>• Encoder (4 tầng): </a:t>
            </a:r>
            <a:r>
              <a:rPr sz="1050">
                <a:solidFill>
                  <a:srgbClr val="0F172A"/>
                </a:solidFill>
              </a:rPr>
              <a:t>Conv2D (3×3, stride 2, LeakyReLU 0.2): 1 → 16 → 32 → 64 → 128 kênh</a:t>
            </a:r>
          </a:p>
          <a:p>
            <a:pPr>
              <a:spcAft>
                <a:spcPts val="300"/>
              </a:spcAft>
            </a:pPr>
            <a:r>
              <a:rPr b="1" sz="1100">
                <a:solidFill>
                  <a:srgbClr val="17365D"/>
                </a:solidFill>
              </a:rPr>
              <a:t>• Bottleneck: </a:t>
            </a:r>
            <a:r>
              <a:rPr sz="1050">
                <a:solidFill>
                  <a:srgbClr val="0F172A"/>
                </a:solidFill>
              </a:rPr>
              <a:t>Tensor nén 128 kênh × 4×4 đặc trưng không gian</a:t>
            </a:r>
          </a:p>
          <a:p>
            <a:pPr>
              <a:spcAft>
                <a:spcPts val="300"/>
              </a:spcAft>
            </a:pPr>
            <a:r>
              <a:rPr b="1" sz="1100">
                <a:solidFill>
                  <a:srgbClr val="17365D"/>
                </a:solidFill>
              </a:rPr>
              <a:t>• Decoder (4 tầng): </a:t>
            </a:r>
            <a:r>
              <a:rPr sz="1050">
                <a:solidFill>
                  <a:srgbClr val="0F172A"/>
                </a:solidFill>
              </a:rPr>
              <a:t>Upsample Nearest 2×2 + Conv2D (3×3) + Skip Connections từ Encoder</a:t>
            </a:r>
          </a:p>
          <a:p>
            <a:pPr>
              <a:spcAft>
                <a:spcPts val="300"/>
              </a:spcAft>
            </a:pPr>
            <a:r>
              <a:rPr b="1" sz="1100">
                <a:solidFill>
                  <a:srgbClr val="17365D"/>
                </a:solidFill>
              </a:rPr>
              <a:t>• Output Layer: </a:t>
            </a:r>
            <a:r>
              <a:rPr sz="1050">
                <a:solidFill>
                  <a:srgbClr val="0F172A"/>
                </a:solidFill>
              </a:rPr>
              <a:t>Conv2D (1×1) tuyến tính (Linear Activation) → 1 × 64 × 64 ma trận phổ sạch</a:t>
            </a:r>
          </a:p>
          <a:p>
            <a:pPr>
              <a:spcAft>
                <a:spcPts val="300"/>
              </a:spcAft>
            </a:pPr>
            <a:r>
              <a:rPr b="1" sz="1100">
                <a:solidFill>
                  <a:srgbClr val="17365D"/>
                </a:solidFill>
              </a:rPr>
              <a:t>• Thiết kế phi chuẩn hóa: </a:t>
            </a:r>
            <a:r>
              <a:rPr sz="1050">
                <a:solidFill>
                  <a:srgbClr val="0F172A"/>
                </a:solidFill>
              </a:rPr>
              <a:t>Không dùng BatchNorm để bảo toàn phân bố năng lượng âm thanh tuyệt đối</a:t>
            </a:r>
          </a:p>
        </p:txBody>
      </p:sp>
      <p:sp>
        <p:nvSpPr>
          <p:cNvPr id="19" name="Rectangle 18"/>
          <p:cNvSpPr/>
          <p:nvPr/>
        </p:nvSpPr>
        <p:spPr>
          <a:xfrm>
            <a:off x="6400800" y="4800600"/>
            <a:ext cx="4876495" cy="1280160"/>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ĐỊNH HƯỚNG TỐI ƯU HÓA PHẦN CỨNG</a:t>
            </a:r>
          </a:p>
          <a:p>
            <a:pPr>
              <a:defRPr sz="1100">
                <a:solidFill>
                  <a:srgbClr val="0F172A"/>
                </a:solidFill>
                <a:latin typeface="Calibri"/>
              </a:defRPr>
            </a:pPr>
            <a:r>
              <a:t>Kiến trúc nhỏ gọn (449k tham số, 1,80 MB), hướng tới khả năng nạp trực tiếp vào bộ nhớ Flash/SRAM của chip nhúng, tập trung tối ưu vào tái tạo phổ Log-mel thay vì nhận dạng khẩu lệnh.</a:t>
            </a:r>
          </a:p>
        </p:txBody>
      </p:sp>
      <p:sp>
        <p:nvSpPr>
          <p:cNvPr id="20" name="Rectangle 19"/>
          <p:cNvSpPr/>
          <p:nvPr/>
        </p:nvSpPr>
        <p:spPr>
          <a:xfrm>
            <a:off x="6400800" y="4800600"/>
            <a:ext cx="109728" cy="1280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4" name="Rounded Rectangle 23"/>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9 / 22</a:t>
            </a:r>
          </a:p>
        </p:txBody>
      </p:sp>
      <p:sp>
        <p:nvSpPr>
          <p:cNvPr id="25" name="TextBox 24"/>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4.1. QUÁ TRÌNH HUẤN LUYỆN VÀ ĐỘNG HỌC HỘI TỤ CỦA U-NET</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Đường cong mất mát Train/Val, hàm mất mát hỗn hợp Masked Loss và cơ chế Early Stopping</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ĐƯỜNG CONG HUẤN LUYỆN U-NET CHÍNH</a:t>
            </a:r>
          </a:p>
        </p:txBody>
      </p:sp>
      <p:pic>
        <p:nvPicPr>
          <p:cNvPr id="10" name="Picture 9" descr="hinh_5_1_training_curves.png"/>
          <p:cNvPicPr>
            <a:picLocks noChangeAspect="1"/>
          </p:cNvPicPr>
          <p:nvPr/>
        </p:nvPicPr>
        <p:blipFill>
          <a:blip r:embed="rId2"/>
          <a:stretch>
            <a:fillRect/>
          </a:stretch>
        </p:blipFill>
        <p:spPr>
          <a:xfrm>
            <a:off x="868680" y="2446020"/>
            <a:ext cx="4937760" cy="2468880"/>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5.1. Đường cong huấn luyện Train loss và Validation loss của mô hình U-Net chính.</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ĐỘNG HỌC HỘI TỤ VÀ EARLY STOPPING</a:t>
            </a:r>
          </a:p>
        </p:txBody>
      </p:sp>
      <p:sp>
        <p:nvSpPr>
          <p:cNvPr id="14" name="Rounded Rectangle 13"/>
          <p:cNvSpPr/>
          <p:nvPr/>
        </p:nvSpPr>
        <p:spPr>
          <a:xfrm>
            <a:off x="6400800" y="1828800"/>
            <a:ext cx="1554480" cy="68580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EA580C"/>
                </a:solidFill>
                <a:latin typeface="Calibri"/>
              </a:defRPr>
            </a:pPr>
            <a:r>
              <a:t>Epoch 5</a:t>
            </a:r>
          </a:p>
          <a:p>
            <a:pPr algn="ctr">
              <a:defRPr sz="950" b="1">
                <a:solidFill>
                  <a:srgbClr val="0F172A"/>
                </a:solidFill>
                <a:latin typeface="Calibri"/>
              </a:defRPr>
            </a:pPr>
            <a:r>
              <a:t>Best Val Epoch</a:t>
            </a:r>
          </a:p>
        </p:txBody>
      </p:sp>
      <p:sp>
        <p:nvSpPr>
          <p:cNvPr id="15" name="Rounded Rectangle 14"/>
          <p:cNvSpPr/>
          <p:nvPr/>
        </p:nvSpPr>
        <p:spPr>
          <a:xfrm>
            <a:off x="8046720" y="1828800"/>
            <a:ext cx="1554480" cy="68580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16A34A"/>
                </a:solidFill>
                <a:latin typeface="Calibri"/>
              </a:defRPr>
            </a:pPr>
            <a:r>
              <a:t>0,3587</a:t>
            </a:r>
          </a:p>
          <a:p>
            <a:pPr algn="ctr">
              <a:defRPr sz="950" b="1">
                <a:solidFill>
                  <a:srgbClr val="0F172A"/>
                </a:solidFill>
                <a:latin typeface="Calibri"/>
              </a:defRPr>
            </a:pPr>
            <a:r>
              <a:t>Val Loss thấp nhất</a:t>
            </a:r>
          </a:p>
        </p:txBody>
      </p:sp>
      <p:sp>
        <p:nvSpPr>
          <p:cNvPr id="16" name="Rounded Rectangle 15"/>
          <p:cNvSpPr/>
          <p:nvPr/>
        </p:nvSpPr>
        <p:spPr>
          <a:xfrm>
            <a:off x="9692640" y="1828800"/>
            <a:ext cx="1584655" cy="68580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DC2626"/>
                </a:solidFill>
                <a:latin typeface="Calibri"/>
              </a:defRPr>
            </a:pPr>
            <a:r>
              <a:t>Epoch 15</a:t>
            </a:r>
          </a:p>
          <a:p>
            <a:pPr algn="ctr">
              <a:defRPr sz="950" b="1">
                <a:solidFill>
                  <a:srgbClr val="0F172A"/>
                </a:solidFill>
                <a:latin typeface="Calibri"/>
              </a:defRPr>
            </a:pPr>
            <a:r>
              <a:t>Dừng Early Stopping</a:t>
            </a:r>
          </a:p>
        </p:txBody>
      </p:sp>
      <p:sp>
        <p:nvSpPr>
          <p:cNvPr id="17" name="TextBox 16"/>
          <p:cNvSpPr txBox="1"/>
          <p:nvPr/>
        </p:nvSpPr>
        <p:spPr>
          <a:xfrm>
            <a:off x="6400800" y="2606040"/>
            <a:ext cx="4876495" cy="2011680"/>
          </a:xfrm>
          <a:prstGeom prst="rect">
            <a:avLst/>
          </a:prstGeom>
          <a:noFill/>
        </p:spPr>
        <p:txBody>
          <a:bodyPr wrap="square">
            <a:spAutoFit/>
          </a:bodyPr>
          <a:lstStyle/>
          <a:p>
            <a:pPr>
              <a:spcAft>
                <a:spcPts val="300"/>
              </a:spcAft>
            </a:pPr>
            <a:r>
              <a:rPr b="1" sz="1100">
                <a:solidFill>
                  <a:srgbClr val="17365D"/>
                </a:solidFill>
              </a:rPr>
              <a:t>• Cấu hình tối ưu: </a:t>
            </a:r>
            <a:r>
              <a:rPr sz="1050">
                <a:solidFill>
                  <a:srgbClr val="0F172A"/>
                </a:solidFill>
              </a:rPr>
              <a:t>AdamW (lr = 1e-3, weight_decay = 1e-4), batch = 32, max_epochs = 100.</a:t>
            </a:r>
          </a:p>
          <a:p>
            <a:pPr>
              <a:spcAft>
                <a:spcPts val="300"/>
              </a:spcAft>
            </a:pPr>
            <a:r>
              <a:rPr b="1" sz="1100">
                <a:solidFill>
                  <a:srgbClr val="17365D"/>
                </a:solidFill>
              </a:rPr>
              <a:t>• Hàm mất mát hỗn hợp: </a:t>
            </a:r>
            <a:r>
              <a:rPr sz="1050">
                <a:solidFill>
                  <a:srgbClr val="0F172A"/>
                </a:solidFill>
              </a:rPr>
              <a:t>Masked Loss L = L1 + L2 (kết hợp MAE bảo toàn biên cạnh và MSE phạt sai số lớn).</a:t>
            </a:r>
          </a:p>
          <a:p>
            <a:pPr>
              <a:spcAft>
                <a:spcPts val="300"/>
              </a:spcAft>
            </a:pPr>
            <a:r>
              <a:rPr b="1" sz="1100">
                <a:solidFill>
                  <a:srgbClr val="17365D"/>
                </a:solidFill>
              </a:rPr>
              <a:t>• Hiện tượng Overfitting sau Epoch 5: </a:t>
            </a:r>
            <a:r>
              <a:rPr sz="1050">
                <a:solidFill>
                  <a:srgbClr val="0F172A"/>
                </a:solidFill>
              </a:rPr>
              <a:t>Train loss tiếp tục giảm sâu từ 0,33 xuống 0,15, trong khi Validation loss đi ngang và bắt đầu dao động tăng nhẹ.</a:t>
            </a:r>
          </a:p>
          <a:p>
            <a:pPr>
              <a:spcAft>
                <a:spcPts val="300"/>
              </a:spcAft>
            </a:pPr>
            <a:r>
              <a:rPr b="1" sz="1100">
                <a:solidFill>
                  <a:srgbClr val="17365D"/>
                </a:solidFill>
              </a:rPr>
              <a:t>• Cơ chế Early Stopping: </a:t>
            </a:r>
            <a:r>
              <a:rPr sz="1050">
                <a:solidFill>
                  <a:srgbClr val="0F172A"/>
                </a:solidFill>
              </a:rPr>
              <a:t>Patience = 10 giúp tự động dừng tại Epoch 15 và khôi phục checkpoint tốt nhất ở Epoch 5.</a:t>
            </a:r>
          </a:p>
        </p:txBody>
      </p:sp>
      <p:sp>
        <p:nvSpPr>
          <p:cNvPr id="18" name="Rectangle 17"/>
          <p:cNvSpPr/>
          <p:nvPr/>
        </p:nvSpPr>
        <p:spPr>
          <a:xfrm>
            <a:off x="6400800" y="4709160"/>
            <a:ext cx="4876495" cy="1371600"/>
          </a:xfrm>
          <a:prstGeom prst="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BÀI HỌC VỀ TỔNG QUÁT HÓA NGƯỜI NÓI</a:t>
            </a:r>
          </a:p>
          <a:p>
            <a:pPr>
              <a:defRPr sz="1100">
                <a:solidFill>
                  <a:srgbClr val="0F172A"/>
                </a:solidFill>
                <a:latin typeface="Calibri"/>
              </a:defRPr>
            </a:pPr>
            <a:r>
              <a:t>Trong bài toán phân chia độc lập người nói (Speaker-disjoint), mạng học rất nhanh quy luật khử nhiễu chung ở các epoch đầu. Early stopping là điều kiện bắt buộc để ngăn mô hình ghi nhớ âm sắc của người nói tập train.</a:t>
            </a:r>
          </a:p>
        </p:txBody>
      </p:sp>
      <p:sp>
        <p:nvSpPr>
          <p:cNvPr id="19" name="Rectangle 18"/>
          <p:cNvSpPr/>
          <p:nvPr/>
        </p:nvSpPr>
        <p:spPr>
          <a:xfrm>
            <a:off x="6400800" y="4709160"/>
            <a:ext cx="109728" cy="13716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3" name="Rounded Rectangle 22"/>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10 / 22</a:t>
            </a:r>
          </a:p>
        </p:txBody>
      </p:sp>
      <p:sp>
        <p:nvSpPr>
          <p:cNvPr id="24" name="TextBox 23"/>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5.1. KẾT QUẢ THỰC NGHIỆM: MỨC CẢI THIỆN SNR (SNR GAIN)</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So sánh SNR gain (dB) trên 6 điều kiện kiểm thử độc lập (người nói lucas)</a:t>
            </a:r>
          </a:p>
        </p:txBody>
      </p:sp>
      <p:sp>
        <p:nvSpPr>
          <p:cNvPr id="8" name="Rounded Rectangle 7"/>
          <p:cNvSpPr/>
          <p:nvPr/>
        </p:nvSpPr>
        <p:spPr>
          <a:xfrm>
            <a:off x="8001000" y="384048"/>
            <a:ext cx="1143000" cy="329184"/>
          </a:xfrm>
          <a:prstGeom prst="roundRect">
            <a:avLst/>
          </a:prstGeom>
          <a:solidFill>
            <a:srgbClr val="EA580C"/>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FFFFFF"/>
                </a:solidFill>
                <a:latin typeface="Calibri"/>
              </a:rPr>
              <a:t>▶ SNR Gain</a:t>
            </a:r>
          </a:p>
        </p:txBody>
      </p:sp>
      <p:sp>
        <p:nvSpPr>
          <p:cNvPr id="9" name="Rounded Rectangle 8">
            <a:hlinkClick r:id="rId2" action="ppaction://hlinksldjump"/>
          </p:cNvPr>
          <p:cNvSpPr/>
          <p:nvPr/>
        </p:nvSpPr>
        <p:spPr>
          <a:xfrm>
            <a:off x="9208008" y="384048"/>
            <a:ext cx="1143000" cy="329184"/>
          </a:xfrm>
          <a:prstGeom prst="roundRect">
            <a:avLst/>
          </a:prstGeom>
          <a:solidFill>
            <a:srgbClr val="102A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BAE6FD"/>
                </a:solidFill>
                <a:latin typeface="Calibri"/>
              </a:rPr>
              <a:t>ΔPESQ</a:t>
            </a:r>
          </a:p>
        </p:txBody>
      </p:sp>
      <p:sp>
        <p:nvSpPr>
          <p:cNvPr id="10" name="Rounded Rectangle 9">
            <a:hlinkClick r:id="rId3" action="ppaction://hlinksldjump"/>
          </p:cNvPr>
          <p:cNvSpPr/>
          <p:nvPr/>
        </p:nvSpPr>
        <p:spPr>
          <a:xfrm>
            <a:off x="10415016" y="384048"/>
            <a:ext cx="1143000" cy="329184"/>
          </a:xfrm>
          <a:prstGeom prst="roundRect">
            <a:avLst/>
          </a:prstGeom>
          <a:solidFill>
            <a:srgbClr val="102A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BAE6FD"/>
                </a:solidFill>
                <a:latin typeface="Calibri"/>
              </a:rPr>
              <a:t>ΔSTOI</a:t>
            </a:r>
          </a:p>
        </p:txBody>
      </p:sp>
      <p:sp>
        <p:nvSpPr>
          <p:cNvPr id="11" name="Rounded Rectangle 10"/>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1325880"/>
            <a:ext cx="52120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BIỂU ĐỒ SNR GAIN (DB) TRÊN 6 ĐIỀU KIỆN</a:t>
            </a:r>
          </a:p>
        </p:txBody>
      </p:sp>
      <p:pic>
        <p:nvPicPr>
          <p:cNvPr id="13" name="Picture 12" descr="hinh_5_3_snr_gain.png"/>
          <p:cNvPicPr>
            <a:picLocks noChangeAspect="1"/>
          </p:cNvPicPr>
          <p:nvPr/>
        </p:nvPicPr>
        <p:blipFill>
          <a:blip r:embed="rId4"/>
          <a:stretch>
            <a:fillRect/>
          </a:stretch>
        </p:blipFill>
        <p:spPr>
          <a:xfrm>
            <a:off x="868680" y="2297887"/>
            <a:ext cx="4937760" cy="2765145"/>
          </a:xfrm>
          <a:prstGeom prst="rect">
            <a:avLst/>
          </a:prstGeom>
        </p:spPr>
      </p:pic>
      <p:sp>
        <p:nvSpPr>
          <p:cNvPr id="14" name="TextBox 13"/>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5.3. Mức cải thiện SNR (SNR gain) của các phương pháp trên sáu điều kiện kiểm thử.</a:t>
            </a:r>
          </a:p>
        </p:txBody>
      </p:sp>
      <p:sp>
        <p:nvSpPr>
          <p:cNvPr id="15" name="Rounded Rectangle 14"/>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BA PHÁT HIỆN KHOA HỌC CỐT LÕI TỪ DỮ LIỆU</a:t>
            </a:r>
          </a:p>
        </p:txBody>
      </p:sp>
      <p:sp>
        <p:nvSpPr>
          <p:cNvPr id="17" name="Rounded Rectangle 16"/>
          <p:cNvSpPr/>
          <p:nvPr/>
        </p:nvSpPr>
        <p:spPr>
          <a:xfrm>
            <a:off x="6400800" y="1828800"/>
            <a:ext cx="4876495" cy="96012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00">
                <a:solidFill>
                  <a:srgbClr val="7C3AED"/>
                </a:solidFill>
              </a:defRPr>
            </a:pPr>
            <a:r>
              <a:t>1. Wiener DD vượt trội trên nhiễu tĩnh AWGN:</a:t>
            </a:r>
          </a:p>
          <a:p>
            <a:pPr>
              <a:defRPr sz="1000">
                <a:solidFill>
                  <a:srgbClr val="0F172A"/>
                </a:solidFill>
              </a:defRPr>
            </a:pPr>
            <a:r>
              <a:t>Wiener DD đạt SNR gain cao nhất trên cả 3 mức AWGN: +8,50 dB (0 dB), +7,24 dB (5 dB), +5,94 dB (10 dB). Giả định phổ dừng của Wiener phát huy tối đa hiệu quả khi ước lượng phổ tĩnh D̂(f).</a:t>
            </a:r>
          </a:p>
        </p:txBody>
      </p:sp>
      <p:sp>
        <p:nvSpPr>
          <p:cNvPr id="18" name="Rounded Rectangle 17"/>
          <p:cNvSpPr/>
          <p:nvPr/>
        </p:nvSpPr>
        <p:spPr>
          <a:xfrm>
            <a:off x="6400800" y="2880360"/>
            <a:ext cx="4876495" cy="96012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00">
                <a:solidFill>
                  <a:srgbClr val="2563EB"/>
                </a:solidFill>
              </a:defRPr>
            </a:pPr>
            <a:r>
              <a:t>2. U-Net 2D DAE dẫn đầu trên Babble mức nhiễu nặng:</a:t>
            </a:r>
          </a:p>
          <a:p>
            <a:pPr>
              <a:defRPr sz="1000">
                <a:solidFill>
                  <a:srgbClr val="0F172A"/>
                </a:solidFill>
              </a:defRPr>
            </a:pPr>
            <a:r>
              <a:t>Trên tạp âm đám đông phi dừng Babble, U-Net vượt trội hoàn toàn: +4,74 dB (0 dB) và +2,70 dB (5 dB), cao gấp đôi so với Wiener (+2,41 dB và +1,90 dB) và Spectral Subtraction (+2,06 dB và +1,81 dB).</a:t>
            </a:r>
          </a:p>
        </p:txBody>
      </p:sp>
      <p:sp>
        <p:nvSpPr>
          <p:cNvPr id="19" name="Rounded Rectangle 18"/>
          <p:cNvSpPr/>
          <p:nvPr/>
        </p:nvSpPr>
        <p:spPr>
          <a:xfrm>
            <a:off x="6400800" y="3931920"/>
            <a:ext cx="4876495" cy="96012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00">
                <a:solidFill>
                  <a:srgbClr val="DC2626"/>
                </a:solidFill>
              </a:defRPr>
            </a:pPr>
            <a:r>
              <a:t>3. Hiện tượng bão hòa và suy giảm ở SNR cao (10 dB):</a:t>
            </a:r>
          </a:p>
          <a:p>
            <a:pPr>
              <a:defRPr sz="1000">
                <a:solidFill>
                  <a:srgbClr val="0F172A"/>
                </a:solidFill>
              </a:defRPr>
            </a:pPr>
            <a:r>
              <a:t>Trên Babble 10 dB, U-Net đạt SNR gain âm nhẹ (-0,44 dB), trong khi Wiener đạt +1,51 dB và SS đạt +1,53 dB. Do sai số xấp xỉ nghịch đảo Mel (NNLS) và pha nhiễu lấn át phần cải thiện phổ khi tín hiệu vốn đã sạch.</a:t>
            </a:r>
          </a:p>
        </p:txBody>
      </p:sp>
      <p:sp>
        <p:nvSpPr>
          <p:cNvPr id="20" name="Rectangle 19"/>
          <p:cNvSpPr/>
          <p:nvPr/>
        </p:nvSpPr>
        <p:spPr>
          <a:xfrm>
            <a:off x="6400800" y="5029200"/>
            <a:ext cx="4876495" cy="1051560"/>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ĐIỂM MẠNH CỦA DEEP LEARNING TRÊN PHỔ PHI DỪNG</a:t>
            </a:r>
          </a:p>
          <a:p>
            <a:pPr>
              <a:defRPr sz="1100">
                <a:solidFill>
                  <a:srgbClr val="0F172A"/>
                </a:solidFill>
                <a:latin typeface="Calibri"/>
              </a:defRPr>
            </a:pPr>
            <a:r>
              <a:t>U-Net phát huy tối đa ưu thế trên các dạng nhiễu phi dừng phức tạp ở mức năng lượng nhiễu cao, nơi các giả định phổ dừng của baseline cổ điển bị phá vỡ hoàn toàn.</a:t>
            </a:r>
          </a:p>
        </p:txBody>
      </p:sp>
      <p:sp>
        <p:nvSpPr>
          <p:cNvPr id="21" name="Rectangle 20"/>
          <p:cNvSpPr/>
          <p:nvPr/>
        </p:nvSpPr>
        <p:spPr>
          <a:xfrm>
            <a:off x="6400800" y="5029200"/>
            <a:ext cx="10972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5" name="Rounded Rectangle 24"/>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11 / 22</a:t>
            </a:r>
          </a:p>
        </p:txBody>
      </p:sp>
      <p:sp>
        <p:nvSpPr>
          <p:cNvPr id="26" name="TextBox 25"/>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5" action="ppaction://hlinksldjump"/>
              </a:rPr>
              <a:t>◀ Trang trước</a:t>
            </a:r>
            <a:r>
              <a:rPr sz="950">
                <a:solidFill>
                  <a:srgbClr val="475569"/>
                </a:solidFill>
                <a:latin typeface="Calibri"/>
              </a:rPr>
              <a:t>  |  </a:t>
            </a:r>
            <a:r>
              <a:rPr sz="950" b="1">
                <a:solidFill>
                  <a:srgbClr val="F59E0B"/>
                </a:solidFill>
                <a:latin typeface="Calibri"/>
                <a:hlinkClick r:id="rId6" action="ppaction://hlinksldjump"/>
              </a:rPr>
              <a:t>☰ Mục lục</a:t>
            </a:r>
            <a:r>
              <a:rPr sz="950">
                <a:solidFill>
                  <a:srgbClr val="475569"/>
                </a:solidFill>
                <a:latin typeface="Calibri"/>
              </a:rPr>
              <a:t>  |  </a:t>
            </a:r>
            <a:r>
              <a:rPr sz="950" b="1">
                <a:solidFill>
                  <a:srgbClr val="38BDF8"/>
                </a:solidFill>
                <a:latin typeface="Calibri"/>
                <a:hlinkClick r:id="rId2" action="ppaction://hlinksldjump"/>
              </a:rPr>
              <a:t>Trang sau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5.2. KẾT QUẢ THỰC NGHIỆM: CHẤT LƯỢNG CẢM NHẬN THÍNH GIÁC (ΔPESQ)</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Mức cải thiện điểm đánh giá chất lượng cảm nhận thính giác PESQ (ITU-T P.862)</a:t>
            </a:r>
          </a:p>
        </p:txBody>
      </p:sp>
      <p:sp>
        <p:nvSpPr>
          <p:cNvPr id="8" name="Rounded Rectangle 7">
            <a:hlinkClick r:id="rId2" action="ppaction://hlinksldjump"/>
          </p:cNvPr>
          <p:cNvSpPr/>
          <p:nvPr/>
        </p:nvSpPr>
        <p:spPr>
          <a:xfrm>
            <a:off x="8001000" y="384048"/>
            <a:ext cx="1143000" cy="329184"/>
          </a:xfrm>
          <a:prstGeom prst="roundRect">
            <a:avLst/>
          </a:prstGeom>
          <a:solidFill>
            <a:srgbClr val="102A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BAE6FD"/>
                </a:solidFill>
                <a:latin typeface="Calibri"/>
              </a:rPr>
              <a:t>SNR Gain</a:t>
            </a:r>
          </a:p>
        </p:txBody>
      </p:sp>
      <p:sp>
        <p:nvSpPr>
          <p:cNvPr id="9" name="Rounded Rectangle 8"/>
          <p:cNvSpPr/>
          <p:nvPr/>
        </p:nvSpPr>
        <p:spPr>
          <a:xfrm>
            <a:off x="9208008" y="384048"/>
            <a:ext cx="1143000" cy="329184"/>
          </a:xfrm>
          <a:prstGeom prst="roundRect">
            <a:avLst/>
          </a:prstGeom>
          <a:solidFill>
            <a:srgbClr val="EA580C"/>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FFFFFF"/>
                </a:solidFill>
                <a:latin typeface="Calibri"/>
              </a:rPr>
              <a:t>▶ ΔPESQ</a:t>
            </a:r>
          </a:p>
        </p:txBody>
      </p:sp>
      <p:sp>
        <p:nvSpPr>
          <p:cNvPr id="10" name="Rounded Rectangle 9">
            <a:hlinkClick r:id="rId3" action="ppaction://hlinksldjump"/>
          </p:cNvPr>
          <p:cNvSpPr/>
          <p:nvPr/>
        </p:nvSpPr>
        <p:spPr>
          <a:xfrm>
            <a:off x="10415016" y="384048"/>
            <a:ext cx="1143000" cy="329184"/>
          </a:xfrm>
          <a:prstGeom prst="roundRect">
            <a:avLst/>
          </a:prstGeom>
          <a:solidFill>
            <a:srgbClr val="102A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BAE6FD"/>
                </a:solidFill>
                <a:latin typeface="Calibri"/>
              </a:rPr>
              <a:t>ΔSTOI</a:t>
            </a:r>
          </a:p>
        </p:txBody>
      </p:sp>
      <p:sp>
        <p:nvSpPr>
          <p:cNvPr id="11" name="Rounded Rectangle 10"/>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1325880"/>
            <a:ext cx="5212080"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BIỂU ĐỒ MỨC CẢI THIỆN ΔPESQ TRÊN 6 ĐIỀU KIỆN</a:t>
            </a:r>
          </a:p>
        </p:txBody>
      </p:sp>
      <p:pic>
        <p:nvPicPr>
          <p:cNvPr id="13" name="Picture 12" descr="hinh_5_4_delta_pesq.png"/>
          <p:cNvPicPr>
            <a:picLocks noChangeAspect="1"/>
          </p:cNvPicPr>
          <p:nvPr/>
        </p:nvPicPr>
        <p:blipFill>
          <a:blip r:embed="rId4"/>
          <a:stretch>
            <a:fillRect/>
          </a:stretch>
        </p:blipFill>
        <p:spPr>
          <a:xfrm>
            <a:off x="868680" y="2297887"/>
            <a:ext cx="4937760" cy="2765145"/>
          </a:xfrm>
          <a:prstGeom prst="rect">
            <a:avLst/>
          </a:prstGeom>
        </p:spPr>
      </p:pic>
      <p:sp>
        <p:nvSpPr>
          <p:cNvPr id="14" name="TextBox 13"/>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5.4. Mức cải thiện chất lượng cảm nhận (ΔPESQ) trên sáu điều kiện kiểm thử.</a:t>
            </a:r>
          </a:p>
        </p:txBody>
      </p:sp>
      <p:sp>
        <p:nvSpPr>
          <p:cNvPr id="15" name="Rounded Rectangle 14"/>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ĐIỂM NHẤN KHOA HỌC QUAN TRỌNG NHẤT</a:t>
            </a:r>
          </a:p>
        </p:txBody>
      </p:sp>
      <p:sp>
        <p:nvSpPr>
          <p:cNvPr id="17" name="Rounded Rectangle 16"/>
          <p:cNvSpPr/>
          <p:nvPr/>
        </p:nvSpPr>
        <p:spPr>
          <a:xfrm>
            <a:off x="6400800" y="1828800"/>
            <a:ext cx="4876495" cy="685800"/>
          </a:xfrm>
          <a:prstGeom prst="roundRect">
            <a:avLst/>
          </a:prstGeom>
          <a:solidFill>
            <a:srgbClr val="DCFCE7"/>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16A34A"/>
                </a:solidFill>
              </a:defRPr>
            </a:pPr>
            <a:r>
              <a:t>★ U-Net 2D DAE là phương pháp DUY NHẤT đạt ΔPESQ &gt; 0 trên TẤT CẢ sáu điều kiện kiểm thử!</a:t>
            </a:r>
          </a:p>
        </p:txBody>
      </p:sp>
      <p:sp>
        <p:nvSpPr>
          <p:cNvPr id="18" name="Rounded Rectangle 17"/>
          <p:cNvSpPr/>
          <p:nvPr/>
        </p:nvSpPr>
        <p:spPr>
          <a:xfrm>
            <a:off x="6400800" y="2606040"/>
            <a:ext cx="4876495" cy="749808"/>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16A34A"/>
                </a:solidFill>
              </a:defRPr>
            </a:pPr>
            <a:r>
              <a:t>• Cải thiện vượt bậc trên AWGN:</a:t>
            </a:r>
          </a:p>
          <a:p>
            <a:pPr>
              <a:defRPr sz="950">
                <a:solidFill>
                  <a:srgbClr val="0F172A"/>
                </a:solidFill>
              </a:defRPr>
            </a:pPr>
            <a:r>
              <a:t>U-Net tăng vọt PESQ: +0,612 (0 dB), +0,617 (5 dB), +0,513 (10 dB). Cao hơn nhiều so với Wiener (+0,289 đến +0,486) và SS (+0,157 đến +0,357).</a:t>
            </a:r>
          </a:p>
        </p:txBody>
      </p:sp>
      <p:sp>
        <p:nvSpPr>
          <p:cNvPr id="19" name="Rounded Rectangle 18"/>
          <p:cNvSpPr/>
          <p:nvPr/>
        </p:nvSpPr>
        <p:spPr>
          <a:xfrm>
            <a:off x="6400800" y="3410712"/>
            <a:ext cx="4876495" cy="749808"/>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2563EB"/>
                </a:solidFill>
              </a:defRPr>
            </a:pPr>
            <a:r>
              <a:t>• Duy trì cải thiện dương trên Babble:</a:t>
            </a:r>
          </a:p>
          <a:p>
            <a:pPr>
              <a:defRPr sz="950">
                <a:solidFill>
                  <a:srgbClr val="0F172A"/>
                </a:solidFill>
              </a:defRPr>
            </a:pPr>
            <a:r>
              <a:t>U-Net tiếp tục đạt mức tăng tích cực: +0,271 (0 dB), +0,313 (5 dB), +0,284 (10 dB). Âm thanh êm tai, giảm cảm giác chói gắt.</a:t>
            </a:r>
          </a:p>
        </p:txBody>
      </p:sp>
      <p:sp>
        <p:nvSpPr>
          <p:cNvPr id="20" name="Rounded Rectangle 19"/>
          <p:cNvSpPr/>
          <p:nvPr/>
        </p:nvSpPr>
        <p:spPr>
          <a:xfrm>
            <a:off x="6400800" y="4215384"/>
            <a:ext cx="4876495" cy="749808"/>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DC2626"/>
                </a:solidFill>
              </a:defRPr>
            </a:pPr>
            <a:r>
              <a:t>• Baseline cổ điển bị suy giảm nặng trên Babble (ΔPESQ ÂM):</a:t>
            </a:r>
          </a:p>
          <a:p>
            <a:pPr>
              <a:defRPr sz="950">
                <a:solidFill>
                  <a:srgbClr val="0F172A"/>
                </a:solidFill>
              </a:defRPr>
            </a:pPr>
            <a:r>
              <a:t>Cả Spectral Subtraction và Wiener đều có ΔPESQ &lt; 0 trên cả 3 mức Babble (-0,066 đến -0,144) do tiếng ồn nhạc (musical noise) lách tách.</a:t>
            </a:r>
          </a:p>
        </p:txBody>
      </p:sp>
      <p:sp>
        <p:nvSpPr>
          <p:cNvPr id="21" name="Rectangle 20"/>
          <p:cNvSpPr/>
          <p:nvPr/>
        </p:nvSpPr>
        <p:spPr>
          <a:xfrm>
            <a:off x="6400800" y="5029200"/>
            <a:ext cx="4876495" cy="1051560"/>
          </a:xfrm>
          <a:prstGeom prst="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TÍNH ƯU VIỆT VỀ CHẤT LƯỢNG CẢM NHẬN</a:t>
            </a:r>
          </a:p>
          <a:p>
            <a:pPr>
              <a:defRPr sz="1100">
                <a:solidFill>
                  <a:srgbClr val="0F172A"/>
                </a:solidFill>
                <a:latin typeface="Calibri"/>
              </a:defRPr>
            </a:pPr>
            <a:r>
              <a:t>Chỉ số SNR cao không đồng nghĩa với âm thanh dễ nghe. Baseline đạt SNR gain tốt trên AWGN nhưng PESQ kém do sinh ra hiện tượng méo phi tuyến. U-Net bảo toàn hình thái âm học giúp tai người nghe tự nhiên hơn.</a:t>
            </a:r>
          </a:p>
        </p:txBody>
      </p:sp>
      <p:sp>
        <p:nvSpPr>
          <p:cNvPr id="22" name="Rectangle 21"/>
          <p:cNvSpPr/>
          <p:nvPr/>
        </p:nvSpPr>
        <p:spPr>
          <a:xfrm>
            <a:off x="6400800" y="5029200"/>
            <a:ext cx="109728" cy="1051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6" name="Rounded Rectangle 25"/>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12 / 22</a:t>
            </a:r>
          </a:p>
        </p:txBody>
      </p:sp>
      <p:sp>
        <p:nvSpPr>
          <p:cNvPr id="27" name="TextBox 26"/>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5" action="ppaction://hlinksldjump"/>
              </a:rPr>
              <a:t>☰ Mục lục</a:t>
            </a:r>
            <a:r>
              <a:rPr sz="950">
                <a:solidFill>
                  <a:srgbClr val="475569"/>
                </a:solidFill>
                <a:latin typeface="Calibri"/>
              </a:rPr>
              <a:t>  |  </a:t>
            </a:r>
            <a:r>
              <a:rPr sz="950" b="1">
                <a:solidFill>
                  <a:srgbClr val="38BDF8"/>
                </a:solidFill>
                <a:latin typeface="Calibri"/>
                <a:hlinkClick r:id="rId3" action="ppaction://hlinksldjump"/>
              </a:rPr>
              <a:t>Trang sau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5.3. KẾT QUẢ THỰC NGHIỆM: ĐỘ RÕ RÀNG TIẾNG NÓI (ΔSTOI)</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Đánh giá chỉ số độ rõ tiếng nói Short-Time Objective Intelligibility (STOI)</a:t>
            </a:r>
          </a:p>
        </p:txBody>
      </p:sp>
      <p:sp>
        <p:nvSpPr>
          <p:cNvPr id="8" name="Rounded Rectangle 7">
            <a:hlinkClick r:id="rId2" action="ppaction://hlinksldjump"/>
          </p:cNvPr>
          <p:cNvSpPr/>
          <p:nvPr/>
        </p:nvSpPr>
        <p:spPr>
          <a:xfrm>
            <a:off x="8001000" y="384048"/>
            <a:ext cx="1143000" cy="329184"/>
          </a:xfrm>
          <a:prstGeom prst="roundRect">
            <a:avLst/>
          </a:prstGeom>
          <a:solidFill>
            <a:srgbClr val="102A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BAE6FD"/>
                </a:solidFill>
                <a:latin typeface="Calibri"/>
              </a:rPr>
              <a:t>SNR Gain</a:t>
            </a:r>
          </a:p>
        </p:txBody>
      </p:sp>
      <p:sp>
        <p:nvSpPr>
          <p:cNvPr id="9" name="Rounded Rectangle 8">
            <a:hlinkClick r:id="rId3" action="ppaction://hlinksldjump"/>
          </p:cNvPr>
          <p:cNvSpPr/>
          <p:nvPr/>
        </p:nvSpPr>
        <p:spPr>
          <a:xfrm>
            <a:off x="9208008" y="384048"/>
            <a:ext cx="1143000" cy="329184"/>
          </a:xfrm>
          <a:prstGeom prst="roundRect">
            <a:avLst/>
          </a:prstGeom>
          <a:solidFill>
            <a:srgbClr val="102A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BAE6FD"/>
                </a:solidFill>
                <a:latin typeface="Calibri"/>
              </a:rPr>
              <a:t>ΔPESQ</a:t>
            </a:r>
          </a:p>
        </p:txBody>
      </p:sp>
      <p:sp>
        <p:nvSpPr>
          <p:cNvPr id="10" name="Rounded Rectangle 9"/>
          <p:cNvSpPr/>
          <p:nvPr/>
        </p:nvSpPr>
        <p:spPr>
          <a:xfrm>
            <a:off x="10415016" y="384048"/>
            <a:ext cx="1143000" cy="329184"/>
          </a:xfrm>
          <a:prstGeom prst="roundRect">
            <a:avLst/>
          </a:prstGeom>
          <a:solidFill>
            <a:srgbClr val="EA580C"/>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1100" b="1">
                <a:solidFill>
                  <a:srgbClr val="FFFFFF"/>
                </a:solidFill>
                <a:latin typeface="Calibri"/>
              </a:rPr>
              <a:t>▶ ΔSTOI</a:t>
            </a:r>
          </a:p>
        </p:txBody>
      </p:sp>
      <p:sp>
        <p:nvSpPr>
          <p:cNvPr id="11" name="Rounded Rectangle 10"/>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1325880"/>
            <a:ext cx="521208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BIỂU ĐỒ MỨC CẢI THIỆN ĐỘ RÕ ΔSTOI</a:t>
            </a:r>
          </a:p>
        </p:txBody>
      </p:sp>
      <p:pic>
        <p:nvPicPr>
          <p:cNvPr id="13" name="Picture 12" descr="hinh_5_5_delta_stoi.png"/>
          <p:cNvPicPr>
            <a:picLocks noChangeAspect="1"/>
          </p:cNvPicPr>
          <p:nvPr/>
        </p:nvPicPr>
        <p:blipFill>
          <a:blip r:embed="rId4"/>
          <a:stretch>
            <a:fillRect/>
          </a:stretch>
        </p:blipFill>
        <p:spPr>
          <a:xfrm>
            <a:off x="868680" y="2297887"/>
            <a:ext cx="4937760" cy="2765145"/>
          </a:xfrm>
          <a:prstGeom prst="rect">
            <a:avLst/>
          </a:prstGeom>
        </p:spPr>
      </p:pic>
      <p:sp>
        <p:nvSpPr>
          <p:cNvPr id="14" name="TextBox 13"/>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5.5. Mức cải thiện độ rõ tiếng nói (ΔSTOI) trên sáu điều kiện kiểm thử.</a:t>
            </a:r>
          </a:p>
        </p:txBody>
      </p:sp>
      <p:sp>
        <p:nvSpPr>
          <p:cNvPr id="15" name="Rounded Rectangle 14"/>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ĐÁNH GIÁ CÂN BẰNG VỀ ĐỘ RÕ TIẾNG NÓI</a:t>
            </a:r>
          </a:p>
        </p:txBody>
      </p:sp>
      <p:sp>
        <p:nvSpPr>
          <p:cNvPr id="17" name="Rounded Rectangle 16"/>
          <p:cNvSpPr/>
          <p:nvPr/>
        </p:nvSpPr>
        <p:spPr>
          <a:xfrm>
            <a:off x="6400800" y="1828800"/>
            <a:ext cx="4876495" cy="96012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00">
                <a:solidFill>
                  <a:srgbClr val="2563EB"/>
                </a:solidFill>
              </a:defRPr>
            </a:pPr>
            <a:r>
              <a:t>1. Cải thiện độ rõ rõ rệt ở mức nhiễu nặng (0 dB, 5 dB):</a:t>
            </a:r>
          </a:p>
          <a:p>
            <a:pPr>
              <a:defRPr sz="1000">
                <a:solidFill>
                  <a:srgbClr val="0F172A"/>
                </a:solidFill>
              </a:defRPr>
            </a:pPr>
            <a:r>
              <a:t>U-Net nâng cao STOI rõ rệt ở các điều kiện SNR thấp: +0,086 (AWGN 0 dB), +0,038 (AWGN 5 dB) và +0,049 (Babble 0 dB). Giúp phục hồi các nguyên âm và phụ âm bị che lấp hoàn toàn bởi nhiễu.</a:t>
            </a:r>
          </a:p>
        </p:txBody>
      </p:sp>
      <p:sp>
        <p:nvSpPr>
          <p:cNvPr id="18" name="Rounded Rectangle 17"/>
          <p:cNvSpPr/>
          <p:nvPr/>
        </p:nvSpPr>
        <p:spPr>
          <a:xfrm>
            <a:off x="6400800" y="2880360"/>
            <a:ext cx="4876495" cy="96012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00">
                <a:solidFill>
                  <a:srgbClr val="EA580C"/>
                </a:solidFill>
              </a:defRPr>
            </a:pPr>
            <a:r>
              <a:t>2. Độ rõ tiệm cận 0 hoặc âm nhẹ ở SNR cao (10 dB):</a:t>
            </a:r>
          </a:p>
          <a:p>
            <a:pPr>
              <a:defRPr sz="1000">
                <a:solidFill>
                  <a:srgbClr val="0F172A"/>
                </a:solidFill>
              </a:defRPr>
            </a:pPr>
            <a:r>
              <a:t>Tại điều kiện nhiễu nhẹ (10 dB), ΔSTOI của U-Net tiệm cận 0 (-0,005 ở AWGN 10 dB và -0,020 ở Babble 10 dB). Do mô hình nén phổ và làm mịn có thể làm mờ nhẹ các phụ âm xát (fricatives) tần số cao.</a:t>
            </a:r>
          </a:p>
        </p:txBody>
      </p:sp>
      <p:sp>
        <p:nvSpPr>
          <p:cNvPr id="19" name="Rounded Rectangle 18"/>
          <p:cNvSpPr/>
          <p:nvPr/>
        </p:nvSpPr>
        <p:spPr>
          <a:xfrm>
            <a:off x="6400800" y="3931920"/>
            <a:ext cx="4876495" cy="96012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b="1" sz="1100">
                <a:solidFill>
                  <a:srgbClr val="DC2626"/>
                </a:solidFill>
              </a:defRPr>
            </a:pPr>
            <a:r>
              <a:t>3. Baseline cổ điển gây suy giảm độ rõ trên Babble:</a:t>
            </a:r>
          </a:p>
          <a:p>
            <a:pPr>
              <a:defRPr sz="1000">
                <a:solidFill>
                  <a:srgbClr val="0F172A"/>
                </a:solidFill>
              </a:defRPr>
            </a:pPr>
            <a:r>
              <a:t>Spectral Subtraction và Wiener làm giảm STOI trên toàn bộ điều kiện Babble (âm từ -0,004 đến -0,036) do triệt tiêu nhầm các thành phần phổ tiếng nói có năng lượng yếu trùng tần số với nhiễu.</a:t>
            </a:r>
          </a:p>
        </p:txBody>
      </p:sp>
      <p:sp>
        <p:nvSpPr>
          <p:cNvPr id="20" name="Rectangle 19"/>
          <p:cNvSpPr/>
          <p:nvPr/>
        </p:nvSpPr>
        <p:spPr>
          <a:xfrm>
            <a:off x="6400800" y="5029200"/>
            <a:ext cx="4876495" cy="1051560"/>
          </a:xfrm>
          <a:prstGeom prst="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MỐI QUAN HỆ GIỮA PESQ VÀ STOI</a:t>
            </a:r>
          </a:p>
          <a:p>
            <a:pPr>
              <a:defRPr sz="1100">
                <a:solidFill>
                  <a:srgbClr val="0F172A"/>
                </a:solidFill>
                <a:latin typeface="Calibri"/>
              </a:defRPr>
            </a:pPr>
            <a:r>
              <a:t>Cải thiện chất lượng cảm nhận (PESQ) không đồng nghĩa luôn cải thiện độ rõ tiếng nói (STOI). Đây là hiện tượng đánh đổi (trade-off) phổ biến trong kỹ thuật lọc nhiễu âm thanh cần nhìn nhận khách quan.</a:t>
            </a:r>
          </a:p>
        </p:txBody>
      </p:sp>
      <p:sp>
        <p:nvSpPr>
          <p:cNvPr id="21" name="Rectangle 20"/>
          <p:cNvSpPr/>
          <p:nvPr/>
        </p:nvSpPr>
        <p:spPr>
          <a:xfrm>
            <a:off x="6400800" y="5029200"/>
            <a:ext cx="109728" cy="10515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5" name="Rounded Rectangle 24"/>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13 / 22</a:t>
            </a:r>
          </a:p>
        </p:txBody>
      </p:sp>
      <p:sp>
        <p:nvSpPr>
          <p:cNvPr id="26" name="TextBox 25"/>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5" action="ppaction://hlinksldjump"/>
              </a:rPr>
              <a:t>☰ Mục lục</a:t>
            </a:r>
            <a:r>
              <a:rPr sz="950">
                <a:solidFill>
                  <a:srgbClr val="475569"/>
                </a:solidFill>
                <a:latin typeface="Calibri"/>
              </a:rPr>
              <a:t>  |  </a:t>
            </a:r>
            <a:r>
              <a:rPr sz="950" b="1">
                <a:solidFill>
                  <a:srgbClr val="38BDF8"/>
                </a:solidFill>
                <a:latin typeface="Calibri"/>
                <a:hlinkClick r:id="rId6" action="ppaction://hlinksldjump"/>
              </a:rPr>
              <a:t>Trang sau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5.4. PHÂN TÍCH BÓC TÁCH: VAI TRÒ CỦA ĐƯỜNG NỐI TẮT SKIP CONNECTION</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Ablation Study: So sánh U-Net đầy đủ và phiên bản Skip-Off (triệt tiêu đường nối tắt)</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KẾT QUẢ ĐỐI CHỨNG: MAIN U-NET VS SKIP-OFF</a:t>
            </a:r>
          </a:p>
        </p:txBody>
      </p:sp>
      <p:pic>
        <p:nvPicPr>
          <p:cNvPr id="10" name="Picture 9" descr="hinh_5_6_ablation_skip.png"/>
          <p:cNvPicPr>
            <a:picLocks noChangeAspect="1"/>
          </p:cNvPicPr>
          <p:nvPr/>
        </p:nvPicPr>
        <p:blipFill>
          <a:blip r:embed="rId2"/>
          <a:stretch>
            <a:fillRect/>
          </a:stretch>
        </p:blipFill>
        <p:spPr>
          <a:xfrm>
            <a:off x="868680" y="2638044"/>
            <a:ext cx="4937760" cy="2084832"/>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5.6. Ảnh hưởng của đường nối tắt Skip Connection đối với các chỉ số đánh giá.</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KẾT QUẢ BÓC TÁCH KIẾN TRÚC THỰC NGHIỆM</a:t>
            </a:r>
          </a:p>
        </p:txBody>
      </p:sp>
      <p:sp>
        <p:nvSpPr>
          <p:cNvPr id="14" name="Rounded Rectangle 13"/>
          <p:cNvSpPr/>
          <p:nvPr/>
        </p:nvSpPr>
        <p:spPr>
          <a:xfrm>
            <a:off x="6400800" y="1828800"/>
            <a:ext cx="2331720" cy="64008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2563EB"/>
                </a:solidFill>
                <a:latin typeface="Calibri"/>
              </a:defRPr>
            </a:pPr>
            <a:r>
              <a:t>Main U-Net</a:t>
            </a:r>
          </a:p>
          <a:p>
            <a:pPr algn="ctr">
              <a:defRPr sz="950" b="1">
                <a:solidFill>
                  <a:srgbClr val="0F172A"/>
                </a:solidFill>
                <a:latin typeface="Calibri"/>
              </a:defRPr>
            </a:pPr>
            <a:r>
              <a:t>Có 4 Skip Connections</a:t>
            </a:r>
          </a:p>
        </p:txBody>
      </p:sp>
      <p:sp>
        <p:nvSpPr>
          <p:cNvPr id="15" name="Rounded Rectangle 14"/>
          <p:cNvSpPr/>
          <p:nvPr/>
        </p:nvSpPr>
        <p:spPr>
          <a:xfrm>
            <a:off x="8915400" y="1828800"/>
            <a:ext cx="2361895" cy="64008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EA580C"/>
                </a:solidFill>
                <a:latin typeface="Calibri"/>
              </a:defRPr>
            </a:pPr>
            <a:r>
              <a:t>Skip-Off Model</a:t>
            </a:r>
          </a:p>
          <a:p>
            <a:pPr algn="ctr">
              <a:defRPr sz="950" b="1">
                <a:solidFill>
                  <a:srgbClr val="0F172A"/>
                </a:solidFill>
                <a:latin typeface="Calibri"/>
              </a:defRPr>
            </a:pPr>
            <a:r>
              <a:t>Bỏ Skip (Tensor = 0)</a:t>
            </a:r>
          </a:p>
        </p:txBody>
      </p:sp>
      <p:sp>
        <p:nvSpPr>
          <p:cNvPr id="16" name="Rounded Rectangle 15"/>
          <p:cNvSpPr/>
          <p:nvPr/>
        </p:nvSpPr>
        <p:spPr>
          <a:xfrm>
            <a:off x="6400800" y="2606040"/>
            <a:ext cx="4876495" cy="713232"/>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DC2626"/>
                </a:solidFill>
              </a:defRPr>
            </a:pPr>
            <a:r>
              <a:t>• SNR Gain sụt giảm nghiêm trọng:</a:t>
            </a:r>
          </a:p>
          <a:p>
            <a:pPr>
              <a:defRPr sz="950">
                <a:solidFill>
                  <a:srgbClr val="0F172A"/>
                </a:solidFill>
              </a:defRPr>
            </a:pPr>
            <a:r>
              <a:t>Giảm từ 4,5 dB xuống mức âm trên nhiều điều kiện (ví dụ: AWGN 10 dB rơi từ +0,37 dB xuống -6,19 dB; Babble 10 dB rơi xuống -6,43 dB).</a:t>
            </a:r>
          </a:p>
        </p:txBody>
      </p:sp>
      <p:sp>
        <p:nvSpPr>
          <p:cNvPr id="17" name="Rounded Rectangle 16"/>
          <p:cNvSpPr/>
          <p:nvPr/>
        </p:nvSpPr>
        <p:spPr>
          <a:xfrm>
            <a:off x="6400800" y="3383280"/>
            <a:ext cx="4876495" cy="713232"/>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EA580C"/>
                </a:solidFill>
              </a:defRPr>
            </a:pPr>
            <a:r>
              <a:t>• ΔPESQ sụt giảm mạnh mẽ:</a:t>
            </a:r>
          </a:p>
          <a:p>
            <a:pPr>
              <a:defRPr sz="950">
                <a:solidFill>
                  <a:srgbClr val="0F172A"/>
                </a:solidFill>
              </a:defRPr>
            </a:pPr>
            <a:r>
              <a:t>AWGN 0 dB giảm từ +0,612 xuống +0,190; trên Babble 10 dB bị kéo xuống giá trị âm -0,266.</a:t>
            </a:r>
          </a:p>
        </p:txBody>
      </p:sp>
      <p:sp>
        <p:nvSpPr>
          <p:cNvPr id="18" name="Rounded Rectangle 17"/>
          <p:cNvSpPr/>
          <p:nvPr/>
        </p:nvSpPr>
        <p:spPr>
          <a:xfrm>
            <a:off x="6400800" y="4160520"/>
            <a:ext cx="4876495" cy="713232"/>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ctr">
              <a:defRPr b="1" sz="1100">
                <a:solidFill>
                  <a:srgbClr val="DC2626"/>
                </a:solidFill>
              </a:defRPr>
            </a:pPr>
            <a:r>
              <a:t>• ΔSTOI chuyển sang giá trị ÂM diện rộng:</a:t>
            </a:r>
          </a:p>
          <a:p>
            <a:pPr>
              <a:defRPr sz="950">
                <a:solidFill>
                  <a:srgbClr val="0F172A"/>
                </a:solidFill>
              </a:defRPr>
            </a:pPr>
            <a:r>
              <a:t>Độ rõ tiếng nói bị phá hủy nghiêm trọng (xuống tới -0,116 ở Babble 10 dB).</a:t>
            </a:r>
          </a:p>
        </p:txBody>
      </p:sp>
      <p:sp>
        <p:nvSpPr>
          <p:cNvPr id="19" name="Rectangle 18"/>
          <p:cNvSpPr/>
          <p:nvPr/>
        </p:nvSpPr>
        <p:spPr>
          <a:xfrm>
            <a:off x="6400800" y="4983480"/>
            <a:ext cx="4876495" cy="1097280"/>
          </a:xfrm>
          <a:prstGeom prst="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VAI TRÒ CỐT LÕI CỦA SKIP CONNECTION</a:t>
            </a:r>
          </a:p>
          <a:p>
            <a:pPr>
              <a:defRPr sz="1100">
                <a:solidFill>
                  <a:srgbClr val="0F172A"/>
                </a:solidFill>
                <a:latin typeface="Calibri"/>
              </a:defRPr>
            </a:pPr>
            <a:r>
              <a:t>Skip Connection là thành phần kiến trúc sống còn giúp bảo toàn các chi tiết phổ tần số cao và ranh giới âm học. Triệt tiêu đường tắt biến mạng thành Autoencoder cổ chai hẹp làm mất mát thông tin không gian nghiêm trọng.</a:t>
            </a:r>
          </a:p>
        </p:txBody>
      </p:sp>
      <p:sp>
        <p:nvSpPr>
          <p:cNvPr id="20" name="Rectangle 19"/>
          <p:cNvSpPr/>
          <p:nvPr/>
        </p:nvSpPr>
        <p:spPr>
          <a:xfrm>
            <a:off x="6400800" y="4983480"/>
            <a:ext cx="109728" cy="10972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4" name="Rounded Rectangle 23"/>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14 / 22</a:t>
            </a:r>
          </a:p>
        </p:txBody>
      </p:sp>
      <p:sp>
        <p:nvSpPr>
          <p:cNvPr id="25" name="TextBox 24"/>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5.5. ĐỘNG HỌC HUẤN LUYỆN CỦA MÔ HÌNH SKIP-OFF</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Đường cong mất mát và phân tích nguyên nhân suy thoái khả năng tổng quát hóa</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ĐƯỜNG CONG HUẤN LUYỆN SKIP-OFF</a:t>
            </a:r>
          </a:p>
        </p:txBody>
      </p:sp>
      <p:pic>
        <p:nvPicPr>
          <p:cNvPr id="10" name="Picture 9" descr="hinh_5_2_skipoff_training_curves.png"/>
          <p:cNvPicPr>
            <a:picLocks noChangeAspect="1"/>
          </p:cNvPicPr>
          <p:nvPr/>
        </p:nvPicPr>
        <p:blipFill>
          <a:blip r:embed="rId2"/>
          <a:stretch>
            <a:fillRect/>
          </a:stretch>
        </p:blipFill>
        <p:spPr>
          <a:xfrm>
            <a:off x="868680" y="2167275"/>
            <a:ext cx="4937760" cy="3026369"/>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5.2. Đường cong huấn luyện của mô hình U-Net phiên bản bỏ Skip Connection.</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PHÂN TÍCH SUY THOÁI TẠI BOTTLENECK</a:t>
            </a:r>
          </a:p>
        </p:txBody>
      </p:sp>
      <p:sp>
        <p:nvSpPr>
          <p:cNvPr id="14" name="Rounded Rectangle 13"/>
          <p:cNvSpPr/>
          <p:nvPr/>
        </p:nvSpPr>
        <p:spPr>
          <a:xfrm>
            <a:off x="6400800" y="1828800"/>
            <a:ext cx="1554480" cy="68580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EA580C"/>
                </a:solidFill>
                <a:latin typeface="Calibri"/>
              </a:defRPr>
            </a:pPr>
            <a:r>
              <a:t>Epoch 6</a:t>
            </a:r>
          </a:p>
          <a:p>
            <a:pPr algn="ctr">
              <a:defRPr sz="950" b="1">
                <a:solidFill>
                  <a:srgbClr val="0F172A"/>
                </a:solidFill>
                <a:latin typeface="Calibri"/>
              </a:defRPr>
            </a:pPr>
            <a:r>
              <a:t>Best Val Epoch</a:t>
            </a:r>
          </a:p>
        </p:txBody>
      </p:sp>
      <p:sp>
        <p:nvSpPr>
          <p:cNvPr id="15" name="Rounded Rectangle 14"/>
          <p:cNvSpPr/>
          <p:nvPr/>
        </p:nvSpPr>
        <p:spPr>
          <a:xfrm>
            <a:off x="8046720" y="1828800"/>
            <a:ext cx="1554480" cy="68580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DC2626"/>
                </a:solidFill>
                <a:latin typeface="Calibri"/>
              </a:defRPr>
            </a:pPr>
            <a:r>
              <a:t>0,3811</a:t>
            </a:r>
          </a:p>
          <a:p>
            <a:pPr algn="ctr">
              <a:defRPr sz="950" b="1">
                <a:solidFill>
                  <a:srgbClr val="0F172A"/>
                </a:solidFill>
                <a:latin typeface="Calibri"/>
              </a:defRPr>
            </a:pPr>
            <a:r>
              <a:t>Val Loss (kém hơn)</a:t>
            </a:r>
          </a:p>
        </p:txBody>
      </p:sp>
      <p:sp>
        <p:nvSpPr>
          <p:cNvPr id="16" name="Rounded Rectangle 15"/>
          <p:cNvSpPr/>
          <p:nvPr/>
        </p:nvSpPr>
        <p:spPr>
          <a:xfrm>
            <a:off x="9692640" y="1828800"/>
            <a:ext cx="1584655" cy="68580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DC2626"/>
                </a:solidFill>
                <a:latin typeface="Calibri"/>
              </a:defRPr>
            </a:pPr>
            <a:r>
              <a:t>Epoch 16</a:t>
            </a:r>
          </a:p>
          <a:p>
            <a:pPr algn="ctr">
              <a:defRPr sz="950" b="1">
                <a:solidFill>
                  <a:srgbClr val="0F172A"/>
                </a:solidFill>
                <a:latin typeface="Calibri"/>
              </a:defRPr>
            </a:pPr>
            <a:r>
              <a:t>Dừng Early Stopping</a:t>
            </a:r>
          </a:p>
        </p:txBody>
      </p:sp>
      <p:sp>
        <p:nvSpPr>
          <p:cNvPr id="17" name="TextBox 16"/>
          <p:cNvSpPr txBox="1"/>
          <p:nvPr/>
        </p:nvSpPr>
        <p:spPr>
          <a:xfrm>
            <a:off x="6400800" y="2606040"/>
            <a:ext cx="4876495" cy="2103120"/>
          </a:xfrm>
          <a:prstGeom prst="rect">
            <a:avLst/>
          </a:prstGeom>
          <a:noFill/>
        </p:spPr>
        <p:txBody>
          <a:bodyPr wrap="square">
            <a:spAutoFit/>
          </a:bodyPr>
          <a:lstStyle/>
          <a:p>
            <a:pPr>
              <a:spcAft>
                <a:spcPts val="300"/>
              </a:spcAft>
            </a:pPr>
            <a:r>
              <a:rPr b="1" sz="1100">
                <a:solidFill>
                  <a:srgbClr val="17365D"/>
                </a:solidFill>
              </a:rPr>
              <a:t>• Mức mất mát thẩm định cao hơn rõ rệt: </a:t>
            </a:r>
            <a:r>
              <a:rPr sz="1050">
                <a:solidFill>
                  <a:srgbClr val="0F172A"/>
                </a:solidFill>
              </a:rPr>
              <a:t>Val loss thấp nhất của Skip-Off (0,3811) cao hơn đáng kể so với mô hình chính (0,3587).</a:t>
            </a:r>
          </a:p>
          <a:p>
            <a:pPr>
              <a:spcAft>
                <a:spcPts val="300"/>
              </a:spcAft>
            </a:pPr>
            <a:r>
              <a:rPr b="1" sz="1100">
                <a:solidFill>
                  <a:srgbClr val="17365D"/>
                </a:solidFill>
              </a:rPr>
              <a:t>• Tắc nghẽn thông tin tại Bottleneck: </a:t>
            </a:r>
            <a:r>
              <a:rPr sz="1050">
                <a:solidFill>
                  <a:srgbClr val="0F172A"/>
                </a:solidFill>
              </a:rPr>
              <a:t>Khi không có đường nối tắt, toàn bộ thông tin phổ phải ép qua ma trận thắt nút 4×4 (nén 16 lần). Decoder không đủ thông tin chi tiết để khôi phục các đỉnh formant.</a:t>
            </a:r>
          </a:p>
          <a:p>
            <a:pPr>
              <a:spcAft>
                <a:spcPts val="300"/>
              </a:spcAft>
            </a:pPr>
            <a:r>
              <a:rPr b="1" sz="1100">
                <a:solidFill>
                  <a:srgbClr val="17365D"/>
                </a:solidFill>
              </a:rPr>
              <a:t>• Không cải thiện thêm dù Train Loss vẫn giảm: </a:t>
            </a:r>
            <a:r>
              <a:rPr sz="1050">
                <a:solidFill>
                  <a:srgbClr val="0F172A"/>
                </a:solidFill>
              </a:rPr>
              <a:t>Mô hình vẫn học vẹt trên tập train nhưng mất hoàn toàn khả năng tổng quát hóa trên người nói mới.</a:t>
            </a:r>
          </a:p>
          <a:p>
            <a:pPr>
              <a:spcAft>
                <a:spcPts val="300"/>
              </a:spcAft>
            </a:pPr>
            <a:r>
              <a:rPr b="1" sz="1100">
                <a:solidFill>
                  <a:srgbClr val="17365D"/>
                </a:solidFill>
              </a:rPr>
              <a:t>• Dừng sớm tại Epoch 16: </a:t>
            </a:r>
            <a:r>
              <a:rPr sz="1050">
                <a:solidFill>
                  <a:srgbClr val="0F172A"/>
                </a:solidFill>
              </a:rPr>
              <a:t>Early stopping dừng sớm hơn 1 epoch so với cấu hình chính.</a:t>
            </a:r>
          </a:p>
        </p:txBody>
      </p:sp>
      <p:sp>
        <p:nvSpPr>
          <p:cNvPr id="18" name="Rectangle 17"/>
          <p:cNvSpPr/>
          <p:nvPr/>
        </p:nvSpPr>
        <p:spPr>
          <a:xfrm>
            <a:off x="6400800" y="4800600"/>
            <a:ext cx="4876495" cy="1280160"/>
          </a:xfrm>
          <a:prstGeom prst="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KẾT LUẬN VỀ THIẾT KẾ MẠNG</a:t>
            </a:r>
          </a:p>
          <a:p>
            <a:pPr>
              <a:defRPr sz="1100">
                <a:solidFill>
                  <a:srgbClr val="0F172A"/>
                </a:solidFill>
                <a:latin typeface="Calibri"/>
              </a:defRPr>
            </a:pPr>
            <a:r>
              <a:t>Sự suy giảm diễn ra ngay từ quá trình tối ưu hóa trên tập thẩm định. Bỏ skip connection làm mất mát vĩnh viễn cấu trúc phổ tần số cao, chứng minh skip connection là điều kiện tiên quyết.</a:t>
            </a:r>
          </a:p>
        </p:txBody>
      </p:sp>
      <p:sp>
        <p:nvSpPr>
          <p:cNvPr id="19" name="Rectangle 18"/>
          <p:cNvSpPr/>
          <p:nvPr/>
        </p:nvSpPr>
        <p:spPr>
          <a:xfrm>
            <a:off x="6400800" y="4800600"/>
            <a:ext cx="109728" cy="1280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3" name="Rounded Rectangle 22"/>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15 / 22</a:t>
            </a:r>
          </a:p>
        </p:txBody>
      </p:sp>
      <p:sp>
        <p:nvSpPr>
          <p:cNvPr id="24" name="TextBox 23"/>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5.6. ĐÁNH GIÁ ĐỘ ỔN ĐỊNH VÀ TIN CẬY QUA NHIỀU RANDOM SEED</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Kiểm định tính tái lập khoa học trên 3 random seed độc lập (42, 123, 999)</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BIẾN THIÊN KẾT QUẢ QUA 3 RANDOM SEEDS</a:t>
            </a:r>
          </a:p>
        </p:txBody>
      </p:sp>
      <p:pic>
        <p:nvPicPr>
          <p:cNvPr id="10" name="Picture 9" descr="hinh_5_7_multiseed_variation.png"/>
          <p:cNvPicPr>
            <a:picLocks noChangeAspect="1"/>
          </p:cNvPicPr>
          <p:nvPr/>
        </p:nvPicPr>
        <p:blipFill>
          <a:blip r:embed="rId2"/>
          <a:stretch>
            <a:fillRect/>
          </a:stretch>
        </p:blipFill>
        <p:spPr>
          <a:xfrm>
            <a:off x="868680" y="2638044"/>
            <a:ext cx="4937760" cy="2084832"/>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5.7. Biến thiên kết quả (Mean ± Std) qua 3 random seed độc lập (42, 123, 999).</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KIỂM ĐỊNH TÍNH TÁI LẬP KHOA HỌC</a:t>
            </a:r>
          </a:p>
        </p:txBody>
      </p:sp>
      <p:sp>
        <p:nvSpPr>
          <p:cNvPr id="14" name="Rounded Rectangle 13"/>
          <p:cNvSpPr/>
          <p:nvPr/>
        </p:nvSpPr>
        <p:spPr>
          <a:xfrm>
            <a:off x="6400800" y="1828800"/>
            <a:ext cx="1554480" cy="68580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2563EB"/>
                </a:solidFill>
                <a:latin typeface="Calibri"/>
              </a:defRPr>
            </a:pPr>
            <a:r>
              <a:t>Seed 42</a:t>
            </a:r>
          </a:p>
          <a:p>
            <a:pPr algn="ctr">
              <a:defRPr sz="950" b="1">
                <a:solidFill>
                  <a:srgbClr val="0F172A"/>
                </a:solidFill>
                <a:latin typeface="Calibri"/>
              </a:defRPr>
            </a:pPr>
            <a:r>
              <a:t>Mô hình chính (gốc)</a:t>
            </a:r>
          </a:p>
        </p:txBody>
      </p:sp>
      <p:sp>
        <p:nvSpPr>
          <p:cNvPr id="15" name="Rounded Rectangle 14"/>
          <p:cNvSpPr/>
          <p:nvPr/>
        </p:nvSpPr>
        <p:spPr>
          <a:xfrm>
            <a:off x="8046720" y="1828800"/>
            <a:ext cx="1554480" cy="68580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0D9488"/>
                </a:solidFill>
                <a:latin typeface="Calibri"/>
              </a:defRPr>
            </a:pPr>
            <a:r>
              <a:t>Seed 123</a:t>
            </a:r>
          </a:p>
          <a:p>
            <a:pPr algn="ctr">
              <a:defRPr sz="950" b="1">
                <a:solidFill>
                  <a:srgbClr val="0F172A"/>
                </a:solidFill>
                <a:latin typeface="Calibri"/>
              </a:defRPr>
            </a:pPr>
            <a:r>
              <a:t>Khởi tạo độc lập 1</a:t>
            </a:r>
          </a:p>
        </p:txBody>
      </p:sp>
      <p:sp>
        <p:nvSpPr>
          <p:cNvPr id="16" name="Rounded Rectangle 15"/>
          <p:cNvSpPr/>
          <p:nvPr/>
        </p:nvSpPr>
        <p:spPr>
          <a:xfrm>
            <a:off x="9692640" y="1828800"/>
            <a:ext cx="1584655" cy="68580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a:lstStyle/>
          <a:p>
            <a:pPr algn="ctr">
              <a:defRPr sz="1700" b="1">
                <a:solidFill>
                  <a:srgbClr val="7C3AED"/>
                </a:solidFill>
                <a:latin typeface="Calibri"/>
              </a:defRPr>
            </a:pPr>
            <a:r>
              <a:t>Seed 999</a:t>
            </a:r>
          </a:p>
          <a:p>
            <a:pPr algn="ctr">
              <a:defRPr sz="950" b="1">
                <a:solidFill>
                  <a:srgbClr val="0F172A"/>
                </a:solidFill>
                <a:latin typeface="Calibri"/>
              </a:defRPr>
            </a:pPr>
            <a:r>
              <a:t>Khởi tạo độc lập 2</a:t>
            </a:r>
          </a:p>
        </p:txBody>
      </p:sp>
      <p:sp>
        <p:nvSpPr>
          <p:cNvPr id="17" name="TextBox 16"/>
          <p:cNvSpPr txBox="1"/>
          <p:nvPr/>
        </p:nvSpPr>
        <p:spPr>
          <a:xfrm>
            <a:off x="6400800" y="2606040"/>
            <a:ext cx="4876495" cy="2103120"/>
          </a:xfrm>
          <a:prstGeom prst="rect">
            <a:avLst/>
          </a:prstGeom>
          <a:noFill/>
        </p:spPr>
        <p:txBody>
          <a:bodyPr wrap="square">
            <a:spAutoFit/>
          </a:bodyPr>
          <a:lstStyle/>
          <a:p>
            <a:pPr>
              <a:spcAft>
                <a:spcPts val="400"/>
              </a:spcAft>
            </a:pPr>
            <a:r>
              <a:rPr b="1" sz="1100">
                <a:solidFill>
                  <a:srgbClr val="2563EB"/>
                </a:solidFill>
              </a:rPr>
              <a:t>• Xu hướng hiệu năng nhất quán tuyệt đối: </a:t>
            </a:r>
            <a:r>
              <a:rPr sz="1050">
                <a:solidFill>
                  <a:srgbClr val="0F172A"/>
                </a:solidFill>
              </a:rPr>
              <a:t>Đặc tính vượt trội trên Babble và ưu thế ΔPESQ được bảo toàn hoàn hảo trên cả 3 lần chạy độc lập.</a:t>
            </a:r>
          </a:p>
          <a:p>
            <a:pPr>
              <a:spcAft>
                <a:spcPts val="400"/>
              </a:spcAft>
            </a:pPr>
            <a:r>
              <a:rPr b="1" sz="1100">
                <a:solidFill>
                  <a:srgbClr val="2563EB"/>
                </a:solidFill>
              </a:rPr>
              <a:t>• Độ phân tán cực thấp ở mức nhiễu nặng: </a:t>
            </a:r>
            <a:r>
              <a:rPr sz="1050">
                <a:solidFill>
                  <a:srgbClr val="0F172A"/>
                </a:solidFill>
              </a:rPr>
              <a:t>Tại AWGN 0 dB: SNR gain = 7,36 ± 0,59 dB; ΔPESQ = +0,575 ± 0,034; ΔSTOI = +0,080 ± 0,004. Độ lệch chuẩn rất nhỏ chứng minh tính ổn định cao.</a:t>
            </a:r>
          </a:p>
          <a:p>
            <a:pPr>
              <a:spcAft>
                <a:spcPts val="400"/>
              </a:spcAft>
            </a:pPr>
            <a:r>
              <a:rPr b="1" sz="1100">
                <a:solidFill>
                  <a:srgbClr val="2563EB"/>
                </a:solidFill>
              </a:rPr>
              <a:t>• Biến thiên lớn hơn ở điều kiện 10 dB: </a:t>
            </a:r>
            <a:r>
              <a:rPr sz="1050">
                <a:solidFill>
                  <a:srgbClr val="0F172A"/>
                </a:solidFill>
              </a:rPr>
              <a:t>Tại mức nhiễu nhẹ (10 dB), SNR gain dao động rộng hơn do mức tín hiệu sạch chiếm ưu thế.</a:t>
            </a:r>
          </a:p>
        </p:txBody>
      </p:sp>
      <p:sp>
        <p:nvSpPr>
          <p:cNvPr id="18" name="Rectangle 17"/>
          <p:cNvSpPr/>
          <p:nvPr/>
        </p:nvSpPr>
        <p:spPr>
          <a:xfrm>
            <a:off x="6400800" y="4800600"/>
            <a:ext cx="4876495" cy="1280160"/>
          </a:xfrm>
          <a:prstGeom prst="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TÍNH TÁI LẬP TRONG NGHIÊN CỨU KHOA HỌC</a:t>
            </a:r>
          </a:p>
          <a:p>
            <a:pPr>
              <a:defRPr sz="1100">
                <a:solidFill>
                  <a:srgbClr val="0F172A"/>
                </a:solidFill>
                <a:latin typeface="Calibri"/>
              </a:defRPr>
            </a:pPr>
            <a:r>
              <a:t>Nguyên tắc trung thực khoa học: 3 random seed được thực hiện nhằm kiểm định tính ổn định và khả năng tái lập của nghiên cứu, tuyệt đối không sử dụng để lựa chọn seed có kết quả cao nhất để báo cáo.</a:t>
            </a:r>
          </a:p>
        </p:txBody>
      </p:sp>
      <p:sp>
        <p:nvSpPr>
          <p:cNvPr id="19" name="Rectangle 18"/>
          <p:cNvSpPr/>
          <p:nvPr/>
        </p:nvSpPr>
        <p:spPr>
          <a:xfrm>
            <a:off x="6400800" y="4800600"/>
            <a:ext cx="109728" cy="12801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3" name="Rounded Rectangle 22"/>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16 / 22</a:t>
            </a:r>
          </a:p>
        </p:txBody>
      </p:sp>
      <p:sp>
        <p:nvSpPr>
          <p:cNvPr id="24" name="TextBox 23"/>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6.1. CHI PHÍ TÍNH TOÁN VÀ ĐÁNH GIÁ ĐỘ TRỄ HƯỚNG TỚI EDGE IOT</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Benchmark thời gian thực tế: Lan truyền tiến mạng (Forward) vs Toàn chuỗi End-to-End</a:t>
            </a:r>
          </a:p>
        </p:txBody>
      </p:sp>
      <p:sp>
        <p:nvSpPr>
          <p:cNvPr id="8" name="Rounded Rectangle 7"/>
          <p:cNvSpPr/>
          <p:nvPr/>
        </p:nvSpPr>
        <p:spPr>
          <a:xfrm>
            <a:off x="731520" y="1325880"/>
            <a:ext cx="5212080" cy="48920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PHÂN RÃ ĐỘ TRỄ CPU THỰC ĐO (100 MẪU)</a:t>
            </a:r>
          </a:p>
        </p:txBody>
      </p:sp>
      <p:pic>
        <p:nvPicPr>
          <p:cNvPr id="10" name="Picture 9" descr="hinh_6_1_latency_breakdown.png"/>
          <p:cNvPicPr>
            <a:picLocks noChangeAspect="1"/>
          </p:cNvPicPr>
          <p:nvPr/>
        </p:nvPicPr>
        <p:blipFill>
          <a:blip r:embed="rId2"/>
          <a:stretch>
            <a:fillRect/>
          </a:stretch>
        </p:blipFill>
        <p:spPr>
          <a:xfrm>
            <a:off x="868680" y="2161149"/>
            <a:ext cx="4937760" cy="3038621"/>
          </a:xfrm>
          <a:prstGeom prst="rect">
            <a:avLst/>
          </a:prstGeom>
        </p:spPr>
      </p:pic>
      <p:sp>
        <p:nvSpPr>
          <p:cNvPr id="11" name="TextBox 10"/>
          <p:cNvSpPr txBox="1"/>
          <p:nvPr/>
        </p:nvSpPr>
        <p:spPr>
          <a:xfrm>
            <a:off x="868680" y="5678424"/>
            <a:ext cx="4937760" cy="502920"/>
          </a:xfrm>
          <a:prstGeom prst="rect">
            <a:avLst/>
          </a:prstGeom>
          <a:noFill/>
        </p:spPr>
        <p:txBody>
          <a:bodyPr wrap="square" lIns="0" tIns="0" rIns="0" bIns="0">
            <a:spAutoFit/>
          </a:bodyPr>
          <a:lstStyle/>
          <a:p>
            <a:pPr algn="ctr">
              <a:defRPr sz="950" i="1">
                <a:solidFill>
                  <a:srgbClr val="475569"/>
                </a:solidFill>
                <a:latin typeface="Calibri"/>
              </a:defRPr>
            </a:pPr>
            <a:r>
              <a:t>Hình 6.1. So sánh thời gian xử lý Forward mạng và Toàn chuỗi End-to-End trên CPU thử nghiệm.</a:t>
            </a:r>
          </a:p>
        </p:txBody>
      </p:sp>
      <p:sp>
        <p:nvSpPr>
          <p:cNvPr id="12" name="Rounded Rectangle 11"/>
          <p:cNvSpPr/>
          <p:nvPr/>
        </p:nvSpPr>
        <p:spPr>
          <a:xfrm>
            <a:off x="6217920" y="1325880"/>
            <a:ext cx="5242255" cy="489204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325880"/>
            <a:ext cx="52422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KẾT QUẢ ĐO ĐẠC &amp; NÚT THẮT CỔ CHAI</a:t>
            </a:r>
          </a:p>
        </p:txBody>
      </p:sp>
      <p:sp>
        <p:nvSpPr>
          <p:cNvPr id="14" name="Rounded Rectangle 13"/>
          <p:cNvSpPr/>
          <p:nvPr/>
        </p:nvSpPr>
        <p:spPr>
          <a:xfrm>
            <a:off x="6400800" y="1828800"/>
            <a:ext cx="2331720" cy="1051560"/>
          </a:xfrm>
          <a:prstGeom prst="roundRect">
            <a:avLst/>
          </a:prstGeom>
          <a:solidFill>
            <a:srgbClr val="DCFCE7"/>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200">
                <a:solidFill>
                  <a:srgbClr val="16A34A"/>
                </a:solidFill>
              </a:defRPr>
            </a:pPr>
            <a:r>
              <a:t>4,9 ms</a:t>
            </a:r>
          </a:p>
          <a:p>
            <a:pPr algn="ctr">
              <a:defRPr sz="950" b="1">
                <a:solidFill>
                  <a:srgbClr val="0F172A"/>
                </a:solidFill>
              </a:defRPr>
            </a:pPr>
            <a:r>
              <a:t>NETWORK FORWARD (U-NET)</a:t>
            </a:r>
            <a:br/>
            <a:r>
              <a:t>Median: 4,8 ms | P95: 5,9 ms</a:t>
            </a:r>
          </a:p>
        </p:txBody>
      </p:sp>
      <p:sp>
        <p:nvSpPr>
          <p:cNvPr id="15" name="Rounded Rectangle 14"/>
          <p:cNvSpPr/>
          <p:nvPr/>
        </p:nvSpPr>
        <p:spPr>
          <a:xfrm>
            <a:off x="8915400" y="1828800"/>
            <a:ext cx="2361895" cy="1051560"/>
          </a:xfrm>
          <a:prstGeom prst="roundRect">
            <a:avLst/>
          </a:prstGeom>
          <a:solidFill>
            <a:srgbClr val="FEE2E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200">
                <a:solidFill>
                  <a:srgbClr val="DC2626"/>
                </a:solidFill>
              </a:defRPr>
            </a:pPr>
            <a:r>
              <a:t>159,0 ms</a:t>
            </a:r>
          </a:p>
          <a:p>
            <a:pPr algn="ctr">
              <a:defRPr sz="950" b="1">
                <a:solidFill>
                  <a:srgbClr val="0F172A"/>
                </a:solidFill>
              </a:defRPr>
            </a:pPr>
            <a:r>
              <a:t>TOÀN CHUỖI (END-TO-END)</a:t>
            </a:r>
            <a:br/>
            <a:r>
              <a:t>Median: 136,0 ms | P95: 393,7 ms</a:t>
            </a:r>
          </a:p>
        </p:txBody>
      </p:sp>
      <p:sp>
        <p:nvSpPr>
          <p:cNvPr id="16" name="Rounded Rectangle 15"/>
          <p:cNvSpPr/>
          <p:nvPr/>
        </p:nvSpPr>
        <p:spPr>
          <a:xfrm>
            <a:off x="6400800" y="2971800"/>
            <a:ext cx="4876495" cy="41148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2563EB"/>
                </a:solidFill>
              </a:defRPr>
            </a:pPr>
            <a:r>
              <a:t>TỶ TRỌNG: MẠNG U-NET (3,1%)  vs  NGHỊCH ĐẢO MEL NNLS (96,9%)</a:t>
            </a:r>
          </a:p>
        </p:txBody>
      </p:sp>
      <p:sp>
        <p:nvSpPr>
          <p:cNvPr id="17" name="Rectangle 16"/>
          <p:cNvSpPr/>
          <p:nvPr/>
        </p:nvSpPr>
        <p:spPr>
          <a:xfrm>
            <a:off x="6400800" y="3474720"/>
            <a:ext cx="4876495" cy="1234440"/>
          </a:xfrm>
          <a:prstGeom prst="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NÚT THẮT CỔ CHAI TOÀN CHUỖI (BOTTLENECK)</a:t>
            </a:r>
          </a:p>
          <a:p>
            <a:pPr>
              <a:defRPr sz="1100">
                <a:solidFill>
                  <a:srgbClr val="0F172A"/>
                </a:solidFill>
                <a:latin typeface="Calibri"/>
              </a:defRPr>
            </a:pPr>
            <a:r>
              <a:t>Mạng U-Net chỉ chiếm 4,9 ms (~3,1%) trong tổng thời gian xử lý! Thuật toán nghịch đảo Mel phi âm (NNLS) và biến đổi STFT/ISTFT chiếm tới 96,9% độ trễ toàn chuỗi.</a:t>
            </a:r>
          </a:p>
        </p:txBody>
      </p:sp>
      <p:sp>
        <p:nvSpPr>
          <p:cNvPr id="18" name="Rectangle 17"/>
          <p:cNvSpPr/>
          <p:nvPr/>
        </p:nvSpPr>
        <p:spPr>
          <a:xfrm>
            <a:off x="6400800" y="3474720"/>
            <a:ext cx="109728" cy="1234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00600"/>
            <a:ext cx="4876495" cy="1280160"/>
          </a:xfrm>
          <a:prstGeom prst="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01168" rIns="164592" tIns="91440" bIns="91440"/>
          <a:lstStyle/>
          <a:p>
            <a:pPr algn="ctr">
              <a:spcAft>
                <a:spcPts val="300"/>
              </a:spcAft>
              <a:defRPr sz="1200" b="1">
                <a:solidFill>
                  <a:srgbClr val="17365D"/>
                </a:solidFill>
                <a:latin typeface="Calibri"/>
              </a:defRPr>
            </a:pPr>
            <a:r>
              <a:t>ĐÁNH GIÁ TÍNH KHẢ THI TẠI BIÊN IOT</a:t>
            </a:r>
          </a:p>
          <a:p>
            <a:pPr>
              <a:defRPr sz="1100">
                <a:solidFill>
                  <a:srgbClr val="0F172A"/>
                </a:solidFill>
                <a:latin typeface="Calibri"/>
              </a:defRPr>
            </a:pPr>
            <a:r>
              <a:t>Cảnh báo học thuật nghiêm túc: Đây là phép đo trên CPU máy trạm thử nghiệm (Peak RSS ≈ 2.506 MB). Kết quả này CHƯA ĐỦ ĐIỀU KIỆN để tuyên bố hệ thống có thể chạy thời gian thực trên vi điều khiển nhúng MCU / ESP32 nếu chưa lượng tử hóa và tối ưu toàn chuỗi.</a:t>
            </a:r>
          </a:p>
        </p:txBody>
      </p:sp>
      <p:sp>
        <p:nvSpPr>
          <p:cNvPr id="20" name="Rectangle 19"/>
          <p:cNvSpPr/>
          <p:nvPr/>
        </p:nvSpPr>
        <p:spPr>
          <a:xfrm>
            <a:off x="6400800" y="4800600"/>
            <a:ext cx="109728" cy="12801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4" name="Rounded Rectangle 23"/>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17 / 22</a:t>
            </a:r>
          </a:p>
        </p:txBody>
      </p:sp>
      <p:sp>
        <p:nvSpPr>
          <p:cNvPr id="25" name="TextBox 24"/>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3" action="ppaction://hlinksldjump"/>
              </a:rPr>
              <a:t>◀ Trang trước</a:t>
            </a:r>
            <a:r>
              <a:rPr sz="950">
                <a:solidFill>
                  <a:srgbClr val="475569"/>
                </a:solidFill>
                <a:latin typeface="Calibri"/>
              </a:rPr>
              <a:t>  |  </a:t>
            </a:r>
            <a:r>
              <a:rPr sz="950" b="1">
                <a:solidFill>
                  <a:srgbClr val="F59E0B"/>
                </a:solidFill>
                <a:latin typeface="Calibri"/>
                <a:hlinkClick r:id="rId4" action="ppaction://hlinksldjump"/>
              </a:rPr>
              <a:t>☰ Mục lục</a:t>
            </a:r>
            <a:r>
              <a:rPr sz="950">
                <a:solidFill>
                  <a:srgbClr val="475569"/>
                </a:solidFill>
                <a:latin typeface="Calibri"/>
              </a:rPr>
              <a:t>  |  </a:t>
            </a:r>
            <a:r>
              <a:rPr sz="950" b="1">
                <a:solidFill>
                  <a:srgbClr val="38BDF8"/>
                </a:solidFill>
                <a:latin typeface="Calibri"/>
                <a:hlinkClick r:id="rId5" action="ppaction://hlinksldjump"/>
              </a:rPr>
              <a:t>Trang sau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6.2. BẢNG TỔNG HỢP ĐỐI SÁNH ƯU VÀ NHƯỢC ĐIỂM CỦA CÁC HỆ THỐNG</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So sánh toàn diện 4 hệ thống về hiệu năng, độ méo, độ trễ và tính khả thi trên Edge IoT</a:t>
            </a:r>
          </a:p>
        </p:txBody>
      </p:sp>
      <p:graphicFrame>
        <p:nvGraphicFramePr>
          <p:cNvPr id="8" name="Table 7"/>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011680"/>
                <a:gridCol w="3017520"/>
                <a:gridCol w="3017520"/>
                <a:gridCol w="2681935"/>
              </a:tblGrid>
              <a:tr h="950976">
                <a:tc>
                  <a:txBody>
                    <a:bodyPr/>
                    <a:lstStyle/>
                    <a:p>
                      <a:pPr algn="ctr">
                        <a:defRPr sz="1200" b="1">
                          <a:solidFill>
                            <a:srgbClr val="FFFFFF"/>
                          </a:solidFill>
                          <a:latin typeface="Calibri"/>
                        </a:defRPr>
                      </a:pPr>
                      <a:r>
                        <a:t>Phương pháp</a:t>
                      </a:r>
                    </a:p>
                  </a:txBody>
                  <a:tcPr>
                    <a:solidFill>
                      <a:srgbClr val="17365D"/>
                    </a:solidFill>
                  </a:tcPr>
                </a:tc>
                <a:tc>
                  <a:txBody>
                    <a:bodyPr/>
                    <a:lstStyle/>
                    <a:p>
                      <a:pPr algn="ctr">
                        <a:defRPr sz="1200" b="1">
                          <a:solidFill>
                            <a:srgbClr val="FFFFFF"/>
                          </a:solidFill>
                          <a:latin typeface="Calibri"/>
                        </a:defRPr>
                      </a:pPr>
                      <a:r>
                        <a:t>Điểm mạnh nổi bật (Pros)</a:t>
                      </a:r>
                    </a:p>
                  </a:txBody>
                  <a:tcPr>
                    <a:solidFill>
                      <a:srgbClr val="17365D"/>
                    </a:solidFill>
                  </a:tcPr>
                </a:tc>
                <a:tc>
                  <a:txBody>
                    <a:bodyPr/>
                    <a:lstStyle/>
                    <a:p>
                      <a:pPr algn="ctr">
                        <a:defRPr sz="1200" b="1">
                          <a:solidFill>
                            <a:srgbClr val="FFFFFF"/>
                          </a:solidFill>
                          <a:latin typeface="Calibri"/>
                        </a:defRPr>
                      </a:pPr>
                      <a:r>
                        <a:t>Hạn chế &amp; Rủi ro (Cons)</a:t>
                      </a:r>
                    </a:p>
                  </a:txBody>
                  <a:tcPr>
                    <a:solidFill>
                      <a:srgbClr val="17365D"/>
                    </a:solidFill>
                  </a:tcPr>
                </a:tc>
                <a:tc>
                  <a:txBody>
                    <a:bodyPr/>
                    <a:lstStyle/>
                    <a:p>
                      <a:pPr algn="ctr">
                        <a:defRPr sz="1200" b="1">
                          <a:solidFill>
                            <a:srgbClr val="FFFFFF"/>
                          </a:solidFill>
                          <a:latin typeface="Calibri"/>
                        </a:defRPr>
                      </a:pPr>
                      <a:r>
                        <a:t>Đánh giá khả thi Edge IoT</a:t>
                      </a:r>
                    </a:p>
                  </a:txBody>
                  <a:tcPr>
                    <a:solidFill>
                      <a:srgbClr val="17365D"/>
                    </a:solidFill>
                  </a:tcPr>
                </a:tc>
              </a:tr>
              <a:tr h="950976">
                <a:tc>
                  <a:txBody>
                    <a:bodyPr/>
                    <a:lstStyle/>
                    <a:p>
                      <a:pPr>
                        <a:defRPr b="1" sz="1100">
                          <a:solidFill>
                            <a:srgbClr val="17365D"/>
                          </a:solidFill>
                          <a:latin typeface="Calibri"/>
                        </a:defRPr>
                      </a:pPr>
                      <a:r>
                        <a:t>Noisy (Không xử lý)</a:t>
                      </a:r>
                      <a:br/>
                      <a:r>
                        <a:t>[Baseline Mốc]</a:t>
                      </a:r>
                    </a:p>
                  </a:txBody>
                  <a:tcPr>
                    <a:solidFill>
                      <a:srgbClr val="F1F5F9"/>
                    </a:solidFill>
                  </a:tcPr>
                </a:tc>
                <a:tc>
                  <a:txBody>
                    <a:bodyPr/>
                    <a:lstStyle/>
                    <a:p>
                      <a:pPr>
                        <a:defRPr sz="1000">
                          <a:solidFill>
                            <a:srgbClr val="0F172A"/>
                          </a:solidFill>
                          <a:latin typeface="Calibri"/>
                        </a:defRPr>
                      </a:pPr>
                      <a:r>
                        <a:t>• Giữ nguyên vẹn 100% dạng sóng sạch ban đầu.</a:t>
                      </a:r>
                      <a:br/>
                      <a:r>
                        <a:t>• Không tiêu tốn tài nguyên tính toán.</a:t>
                      </a:r>
                      <a:br/>
                      <a:r>
                        <a:t>• Mốc tham chiếu chuẩn cho mọi đánh giá.</a:t>
                      </a:r>
                    </a:p>
                  </a:txBody>
                  <a:tcPr>
                    <a:solidFill>
                      <a:srgbClr val="F1F5F9"/>
                    </a:solidFill>
                  </a:tcPr>
                </a:tc>
                <a:tc>
                  <a:txBody>
                    <a:bodyPr/>
                    <a:lstStyle/>
                    <a:p>
                      <a:pPr>
                        <a:defRPr sz="1000">
                          <a:solidFill>
                            <a:srgbClr val="0F172A"/>
                          </a:solidFill>
                          <a:latin typeface="Calibri"/>
                        </a:defRPr>
                      </a:pPr>
                      <a:r>
                        <a:t>• Năng lượng nhiễu lớn che lấp hoàn toàn tiếng nói ở SNR thấp.</a:t>
                      </a:r>
                      <a:br/>
                      <a:r>
                        <a:t>• Chất lượng cảm nhận và độ rõ rất thấp ở 0 dB.</a:t>
                      </a:r>
                    </a:p>
                  </a:txBody>
                  <a:tcPr>
                    <a:solidFill>
                      <a:srgbClr val="F1F5F9"/>
                    </a:solidFill>
                  </a:tcPr>
                </a:tc>
                <a:tc>
                  <a:txBody>
                    <a:bodyPr/>
                    <a:lstStyle/>
                    <a:p>
                      <a:pPr>
                        <a:defRPr sz="1000" b="1">
                          <a:solidFill>
                            <a:srgbClr val="0F172A"/>
                          </a:solidFill>
                          <a:latin typeface="Calibri"/>
                        </a:defRPr>
                      </a:pPr>
                      <a:r>
                        <a:t>Không áp dụng khử nhiễu.</a:t>
                      </a:r>
                    </a:p>
                  </a:txBody>
                  <a:tcPr>
                    <a:solidFill>
                      <a:srgbClr val="F1F5F9"/>
                    </a:solidFill>
                  </a:tcPr>
                </a:tc>
              </a:tr>
              <a:tr h="950976">
                <a:tc>
                  <a:txBody>
                    <a:bodyPr/>
                    <a:lstStyle/>
                    <a:p>
                      <a:pPr>
                        <a:defRPr b="1" sz="1100">
                          <a:solidFill>
                            <a:srgbClr val="17365D"/>
                          </a:solidFill>
                          <a:latin typeface="Calibri"/>
                        </a:defRPr>
                      </a:pPr>
                      <a:r>
                        <a:t>Spectral Subtraction</a:t>
                      </a:r>
                      <a:br/>
                      <a:r>
                        <a:t>(Trừ phổ - Boll 1979)</a:t>
                      </a:r>
                      <a:br/>
                      <a:r>
                        <a:t>[Baseline cổ điển]</a:t>
                      </a:r>
                    </a:p>
                  </a:txBody>
                  <a:tcPr>
                    <a:solidFill>
                      <a:srgbClr val="DCFCE7"/>
                    </a:solidFill>
                  </a:tcPr>
                </a:tc>
                <a:tc>
                  <a:txBody>
                    <a:bodyPr/>
                    <a:lstStyle/>
                    <a:p>
                      <a:pPr>
                        <a:defRPr sz="1000">
                          <a:solidFill>
                            <a:srgbClr val="0F172A"/>
                          </a:solidFill>
                          <a:latin typeface="Calibri"/>
                        </a:defRPr>
                      </a:pPr>
                      <a:r>
                        <a:t>• Thuật toán đơn giản, tính toán tức thời.</a:t>
                      </a:r>
                      <a:br/>
                      <a:r>
                        <a:t>• Không cần tập dữ liệu huấn luyện.</a:t>
                      </a:r>
                      <a:br/>
                      <a:r>
                        <a:t>• Đạt SNR gain khá tốt trên AWGN (+5,2 đến +6,8 dB).</a:t>
                      </a:r>
                    </a:p>
                  </a:txBody>
                  <a:tcPr>
                    <a:solidFill>
                      <a:srgbClr val="DCFCE7"/>
                    </a:solidFill>
                  </a:tcPr>
                </a:tc>
                <a:tc>
                  <a:txBody>
                    <a:bodyPr/>
                    <a:lstStyle/>
                    <a:p>
                      <a:pPr>
                        <a:defRPr sz="1000">
                          <a:solidFill>
                            <a:srgbClr val="0F172A"/>
                          </a:solidFill>
                          <a:latin typeface="Calibri"/>
                        </a:defRPr>
                      </a:pPr>
                      <a:r>
                        <a:t>• Sinh ra tiếng ồn nhạc (musical noise) lách tách.</a:t>
                      </a:r>
                      <a:br/>
                      <a:r>
                        <a:t>• ΔPESQ âm trên toàn bộ điều kiện Babble (-0,10 đến -0,06).</a:t>
                      </a:r>
                      <a:br/>
                      <a:r>
                        <a:t>• Làm méo âm sắc nguyên âm.</a:t>
                      </a:r>
                    </a:p>
                  </a:txBody>
                  <a:tcPr>
                    <a:solidFill>
                      <a:srgbClr val="DCFCE7"/>
                    </a:solidFill>
                  </a:tcPr>
                </a:tc>
                <a:tc>
                  <a:txBody>
                    <a:bodyPr/>
                    <a:lstStyle/>
                    <a:p>
                      <a:pPr>
                        <a:defRPr sz="1000" b="1">
                          <a:solidFill>
                            <a:srgbClr val="0F172A"/>
                          </a:solidFill>
                          <a:latin typeface="Calibri"/>
                        </a:defRPr>
                      </a:pPr>
                      <a:r>
                        <a:t>Rất khả thi trên MCU/DSP (STM32, ESP32) do chi phí RAM và phép tính cực thấp.</a:t>
                      </a:r>
                    </a:p>
                  </a:txBody>
                  <a:tcPr>
                    <a:solidFill>
                      <a:srgbClr val="DCFCE7"/>
                    </a:solidFill>
                  </a:tcPr>
                </a:tc>
              </a:tr>
              <a:tr h="950976">
                <a:tc>
                  <a:txBody>
                    <a:bodyPr/>
                    <a:lstStyle/>
                    <a:p>
                      <a:pPr>
                        <a:defRPr b="1" sz="1100">
                          <a:solidFill>
                            <a:srgbClr val="17365D"/>
                          </a:solidFill>
                          <a:latin typeface="Calibri"/>
                        </a:defRPr>
                      </a:pPr>
                      <a:r>
                        <a:t>Wiener Decision-Directed</a:t>
                      </a:r>
                      <a:br/>
                      <a:r>
                        <a:t>(Ephraim &amp; Malah 1984)</a:t>
                      </a:r>
                      <a:br/>
                      <a:r>
                        <a:t>[Baseline lọc thích nghi]</a:t>
                      </a:r>
                    </a:p>
                  </a:txBody>
                  <a:tcPr>
                    <a:solidFill>
                      <a:srgbClr val="F3E8FF"/>
                    </a:solidFill>
                  </a:tcPr>
                </a:tc>
                <a:tc>
                  <a:txBody>
                    <a:bodyPr/>
                    <a:lstStyle/>
                    <a:p>
                      <a:pPr>
                        <a:defRPr sz="1000">
                          <a:solidFill>
                            <a:srgbClr val="0F172A"/>
                          </a:solidFill>
                          <a:latin typeface="Calibri"/>
                        </a:defRPr>
                      </a:pPr>
                      <a:r>
                        <a:t>• Cơ sở toán học vững chắc, lọc thích nghi mượt.</a:t>
                      </a:r>
                      <a:br/>
                      <a:r>
                        <a:t>• SNR gain vượt trội nhất trên AWGN (+5,9 đến +8,5 dB).</a:t>
                      </a:r>
                      <a:br/>
                      <a:r>
                        <a:t>• Chi phí tính toán nhỏ gọn.</a:t>
                      </a:r>
                    </a:p>
                  </a:txBody>
                  <a:tcPr>
                    <a:solidFill>
                      <a:srgbClr val="F3E8FF"/>
                    </a:solidFill>
                  </a:tcPr>
                </a:tc>
                <a:tc>
                  <a:txBody>
                    <a:bodyPr/>
                    <a:lstStyle/>
                    <a:p>
                      <a:pPr>
                        <a:defRPr sz="1000">
                          <a:solidFill>
                            <a:srgbClr val="0F172A"/>
                          </a:solidFill>
                          <a:latin typeface="Calibri"/>
                        </a:defRPr>
                      </a:pPr>
                      <a:r>
                        <a:t>• Kém hiệu quả trên nhiễu phi dừng Babble.</a:t>
                      </a:r>
                      <a:br/>
                      <a:r>
                        <a:t>• ΔPESQ âm trên toàn bộ điều kiện Babble (-0,14 đến -0,12).</a:t>
                      </a:r>
                      <a:br/>
                      <a:r>
                        <a:t>• Làm mỏng âm thanh giọng nói.</a:t>
                      </a:r>
                    </a:p>
                  </a:txBody>
                  <a:tcPr>
                    <a:solidFill>
                      <a:srgbClr val="F3E8FF"/>
                    </a:solidFill>
                  </a:tcPr>
                </a:tc>
                <a:tc>
                  <a:txBody>
                    <a:bodyPr/>
                    <a:lstStyle/>
                    <a:p>
                      <a:pPr>
                        <a:defRPr sz="1000" b="1">
                          <a:solidFill>
                            <a:srgbClr val="0F172A"/>
                          </a:solidFill>
                          <a:latin typeface="Calibri"/>
                        </a:defRPr>
                      </a:pPr>
                      <a:r>
                        <a:t>Khả thi rất cao trên vi điều khiển và DSP âm thanh chuyên dụng.</a:t>
                      </a:r>
                    </a:p>
                  </a:txBody>
                  <a:tcPr>
                    <a:solidFill>
                      <a:srgbClr val="F3E8FF"/>
                    </a:solidFill>
                  </a:tcPr>
                </a:tc>
              </a:tr>
              <a:tr h="950976">
                <a:tc>
                  <a:txBody>
                    <a:bodyPr/>
                    <a:lstStyle/>
                    <a:p>
                      <a:pPr>
                        <a:defRPr b="1" sz="1100">
                          <a:solidFill>
                            <a:srgbClr val="17365D"/>
                          </a:solidFill>
                          <a:latin typeface="Calibri"/>
                        </a:defRPr>
                      </a:pPr>
                      <a:r>
                        <a:t>U-Net 2D DAE</a:t>
                      </a:r>
                      <a:br/>
                      <a:r>
                        <a:t>(Đề xuất nghiên cứu)</a:t>
                      </a:r>
                      <a:br/>
                      <a:r>
                        <a:t>[Deep Learning 449k]</a:t>
                      </a:r>
                    </a:p>
                  </a:txBody>
                  <a:tcPr>
                    <a:solidFill>
                      <a:srgbClr val="DBEAFE"/>
                    </a:solidFill>
                  </a:tcPr>
                </a:tc>
                <a:tc>
                  <a:txBody>
                    <a:bodyPr/>
                    <a:lstStyle/>
                    <a:p>
                      <a:pPr>
                        <a:defRPr sz="1000">
                          <a:solidFill>
                            <a:srgbClr val="0F172A"/>
                          </a:solidFill>
                          <a:latin typeface="Calibri"/>
                        </a:defRPr>
                      </a:pPr>
                      <a:r>
                        <a:t>• ΔPESQ dương trên TOÀN BỘ 6 điều kiện kiểm thử.</a:t>
                      </a:r>
                      <a:br/>
                      <a:r>
                        <a:t>• Rất mạnh trên Babble 0 dB (+4,7 dB) và 5 dB (+2,7 dB).</a:t>
                      </a:r>
                      <a:br/>
                      <a:r>
                        <a:t>• Tốc độ forward mạng rất nhanh (4,9 ms).</a:t>
                      </a:r>
                    </a:p>
                  </a:txBody>
                  <a:tcPr>
                    <a:solidFill>
                      <a:srgbClr val="DBEAFE"/>
                    </a:solidFill>
                  </a:tcPr>
                </a:tc>
                <a:tc>
                  <a:txBody>
                    <a:bodyPr/>
                    <a:lstStyle/>
                    <a:p>
                      <a:pPr>
                        <a:defRPr sz="1000">
                          <a:solidFill>
                            <a:srgbClr val="0F172A"/>
                          </a:solidFill>
                          <a:latin typeface="Calibri"/>
                        </a:defRPr>
                      </a:pPr>
                      <a:r>
                        <a:t>• Bị suy giảm nhẹ ở SNR cao 10 dB do sai số pha.</a:t>
                      </a:r>
                      <a:br/>
                      <a:r>
                        <a:t>• Nghịch đảo Mel (NNLS) tốn 154 ms độ trễ toàn chuỗi.</a:t>
                      </a:r>
                      <a:br/>
                      <a:r>
                        <a:t>• Cần RAM cho tensor trung gian.</a:t>
                      </a:r>
                    </a:p>
                  </a:txBody>
                  <a:tcPr>
                    <a:solidFill>
                      <a:srgbClr val="DBEAFE"/>
                    </a:solidFill>
                  </a:tcPr>
                </a:tc>
                <a:tc>
                  <a:txBody>
                    <a:bodyPr/>
                    <a:lstStyle/>
                    <a:p>
                      <a:pPr>
                        <a:defRPr sz="1000" b="1">
                          <a:solidFill>
                            <a:srgbClr val="2563EB"/>
                          </a:solidFill>
                          <a:latin typeface="Calibri"/>
                        </a:defRPr>
                      </a:pPr>
                      <a:r>
                        <a:t>Cần chuyển đổi sang TFLite-Micro INT8 và tối ưu xấp xỉ nghịch đảo Mel trước khi nạp lên MCU.</a:t>
                      </a:r>
                    </a:p>
                  </a:txBody>
                  <a:tcPr>
                    <a:solidFill>
                      <a:srgbClr val="DBEAFE"/>
                    </a:solidFill>
                  </a:tcPr>
                </a:tc>
              </a:tr>
            </a:tbl>
          </a:graphicData>
        </a:graphic>
      </p:graphicFrame>
      <p:sp>
        <p:nvSpPr>
          <p:cNvPr id="9" name="Rectangle 8"/>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12" name="Rounded Rectangle 11"/>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18 / 22</a:t>
            </a:r>
          </a:p>
        </p:txBody>
      </p:sp>
      <p:sp>
        <p:nvSpPr>
          <p:cNvPr id="13" name="TextBox 12"/>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3" action="ppaction://hlinksldjump"/>
              </a:rPr>
              <a:t>☰ Mục lục</a:t>
            </a:r>
            <a:r>
              <a:rPr sz="950">
                <a:solidFill>
                  <a:srgbClr val="475569"/>
                </a:solidFill>
                <a:latin typeface="Calibri"/>
              </a:rPr>
              <a:t>  |  </a:t>
            </a:r>
            <a:r>
              <a:rPr sz="950" b="1">
                <a:solidFill>
                  <a:srgbClr val="38BDF8"/>
                </a:solidFill>
                <a:latin typeface="Calibri"/>
                <a:hlinkClick r:id="rId4" action="ppaction://hlinksldjump"/>
              </a:rPr>
              <a:t>Trang sau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7.1. KẾT LUẬN KHOA HỌC TỪ KẾT QUẢ THỰC NGHIỆM</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Sáu kết luận chính thức được hỗ trợ đầy đủ bởi dữ liệu thực nghiệm</a:t>
            </a:r>
          </a:p>
        </p:txBody>
      </p:sp>
      <p:sp>
        <p:nvSpPr>
          <p:cNvPr id="8" name="Rounded Rectangle 7"/>
          <p:cNvSpPr/>
          <p:nvPr/>
        </p:nvSpPr>
        <p:spPr>
          <a:xfrm>
            <a:off x="731520" y="1371600"/>
            <a:ext cx="5257800" cy="141732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371600"/>
            <a:ext cx="137160" cy="1417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481328"/>
            <a:ext cx="4846320" cy="1188720"/>
          </a:xfrm>
          <a:prstGeom prst="rect">
            <a:avLst/>
          </a:prstGeom>
          <a:noFill/>
        </p:spPr>
        <p:txBody>
          <a:bodyPr wrap="square">
            <a:spAutoFit/>
          </a:bodyPr>
          <a:lstStyle/>
          <a:p>
            <a:pPr>
              <a:spcAft>
                <a:spcPts val="300"/>
              </a:spcAft>
              <a:defRPr sz="1200" b="1">
                <a:solidFill>
                  <a:srgbClr val="17365D"/>
                </a:solidFill>
                <a:latin typeface="Calibri"/>
              </a:defRPr>
            </a:pPr>
            <a:r>
              <a:t>1. Ưu thế tuyệt đối về chất lượng cảm nhận (PESQ):</a:t>
            </a:r>
          </a:p>
          <a:p>
            <a:pPr>
              <a:defRPr sz="1050">
                <a:solidFill>
                  <a:srgbClr val="0F172A"/>
                </a:solidFill>
                <a:latin typeface="Calibri"/>
              </a:defRPr>
            </a:pPr>
            <a:r>
              <a:t>U-Net 2D DAE là phương pháp duy nhất đạt mức cải thiện cảm nhận dương (ΔPESQ &gt; 0) trên toàn bộ sáu điều kiện kiểm thử, giải quyết triệt để vấn đề tiếng ồn nhạc (musical noise) vốn gây suy thoái PESQ ở hai baseline cổ điển.</a:t>
            </a:r>
          </a:p>
        </p:txBody>
      </p:sp>
      <p:sp>
        <p:nvSpPr>
          <p:cNvPr id="11" name="Rounded Rectangle 10"/>
          <p:cNvSpPr/>
          <p:nvPr/>
        </p:nvSpPr>
        <p:spPr>
          <a:xfrm>
            <a:off x="6172200" y="1371600"/>
            <a:ext cx="5257800" cy="141732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71600"/>
            <a:ext cx="137160" cy="1417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81328"/>
            <a:ext cx="4846320" cy="1188720"/>
          </a:xfrm>
          <a:prstGeom prst="rect">
            <a:avLst/>
          </a:prstGeom>
          <a:noFill/>
        </p:spPr>
        <p:txBody>
          <a:bodyPr wrap="square">
            <a:spAutoFit/>
          </a:bodyPr>
          <a:lstStyle/>
          <a:p>
            <a:pPr>
              <a:spcAft>
                <a:spcPts val="300"/>
              </a:spcAft>
              <a:defRPr sz="1200" b="1">
                <a:solidFill>
                  <a:srgbClr val="17365D"/>
                </a:solidFill>
                <a:latin typeface="Calibri"/>
              </a:defRPr>
            </a:pPr>
            <a:r>
              <a:t>2. Hiệu quả nổi bật trên nhiễu phức tạp phi dừng (Babble):</a:t>
            </a:r>
          </a:p>
          <a:p>
            <a:pPr>
              <a:defRPr sz="1050">
                <a:solidFill>
                  <a:srgbClr val="0F172A"/>
                </a:solidFill>
                <a:latin typeface="Calibri"/>
              </a:defRPr>
            </a:pPr>
            <a:r>
              <a:t>Trên tạp âm đám đông Babble ở mức nhiễu nặng (0 dB và 5 dB), U-Net đạt SNR gain và STOI vượt trội hoàn toàn so với Wiener và Spectral Subtraction, chứng minh ưu thế của mô hình học sâu phi tuyến.</a:t>
            </a:r>
          </a:p>
        </p:txBody>
      </p:sp>
      <p:sp>
        <p:nvSpPr>
          <p:cNvPr id="14" name="Rounded Rectangle 13"/>
          <p:cNvSpPr/>
          <p:nvPr/>
        </p:nvSpPr>
        <p:spPr>
          <a:xfrm>
            <a:off x="731520" y="2926080"/>
            <a:ext cx="5257800" cy="141732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2926080"/>
            <a:ext cx="137160" cy="14173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035808"/>
            <a:ext cx="4846320" cy="1188720"/>
          </a:xfrm>
          <a:prstGeom prst="rect">
            <a:avLst/>
          </a:prstGeom>
          <a:noFill/>
        </p:spPr>
        <p:txBody>
          <a:bodyPr wrap="square">
            <a:spAutoFit/>
          </a:bodyPr>
          <a:lstStyle/>
          <a:p>
            <a:pPr>
              <a:spcAft>
                <a:spcPts val="300"/>
              </a:spcAft>
              <a:defRPr sz="1200" b="1">
                <a:solidFill>
                  <a:srgbClr val="17365D"/>
                </a:solidFill>
                <a:latin typeface="Calibri"/>
              </a:defRPr>
            </a:pPr>
            <a:r>
              <a:t>3. Vai trò sống còn của Skip Connection:</a:t>
            </a:r>
          </a:p>
          <a:p>
            <a:pPr>
              <a:defRPr sz="1050">
                <a:solidFill>
                  <a:srgbClr val="0F172A"/>
                </a:solidFill>
                <a:latin typeface="Calibri"/>
              </a:defRPr>
            </a:pPr>
            <a:r>
              <a:t>Thực nghiệm bóc tách (Ablation) khẳng định đường nối tắt Skip Connection là bắt buộc để duy trì độ ổn định hội tụ và ngăn ngừa sự biến mất của các thành phần formant tần số cao.</a:t>
            </a:r>
          </a:p>
        </p:txBody>
      </p:sp>
      <p:sp>
        <p:nvSpPr>
          <p:cNvPr id="17" name="Rounded Rectangle 16"/>
          <p:cNvSpPr/>
          <p:nvPr/>
        </p:nvSpPr>
        <p:spPr>
          <a:xfrm>
            <a:off x="6172200" y="2926080"/>
            <a:ext cx="5257800" cy="141732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926080"/>
            <a:ext cx="137160" cy="1417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035808"/>
            <a:ext cx="4846320" cy="1188720"/>
          </a:xfrm>
          <a:prstGeom prst="rect">
            <a:avLst/>
          </a:prstGeom>
          <a:noFill/>
        </p:spPr>
        <p:txBody>
          <a:bodyPr wrap="square">
            <a:spAutoFit/>
          </a:bodyPr>
          <a:lstStyle/>
          <a:p>
            <a:pPr>
              <a:spcAft>
                <a:spcPts val="300"/>
              </a:spcAft>
              <a:defRPr sz="1200" b="1">
                <a:solidFill>
                  <a:srgbClr val="17365D"/>
                </a:solidFill>
                <a:latin typeface="Calibri"/>
              </a:defRPr>
            </a:pPr>
            <a:r>
              <a:t>4. Độ tin cậy và tính tái lập thực nghiệm cao:</a:t>
            </a:r>
          </a:p>
          <a:p>
            <a:pPr>
              <a:defRPr sz="1050">
                <a:solidFill>
                  <a:srgbClr val="0F172A"/>
                </a:solidFill>
                <a:latin typeface="Calibri"/>
              </a:defRPr>
            </a:pPr>
            <a:r>
              <a:t>Khảo sát trên 3 random seed độc lập (42, 123, 999) chứng minh xu hướng hiệu năng của U-Net ổn định, phương sai thấp ở điều kiện nhiễu nặng, đảm bảo tính vững chắc khoa học.</a:t>
            </a:r>
          </a:p>
        </p:txBody>
      </p:sp>
      <p:sp>
        <p:nvSpPr>
          <p:cNvPr id="20" name="Rounded Rectangle 19"/>
          <p:cNvSpPr/>
          <p:nvPr/>
        </p:nvSpPr>
        <p:spPr>
          <a:xfrm>
            <a:off x="731520" y="4480560"/>
            <a:ext cx="5257800" cy="1417320"/>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480560"/>
            <a:ext cx="13716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590288"/>
            <a:ext cx="4846320" cy="1188720"/>
          </a:xfrm>
          <a:prstGeom prst="rect">
            <a:avLst/>
          </a:prstGeom>
          <a:noFill/>
        </p:spPr>
        <p:txBody>
          <a:bodyPr wrap="square">
            <a:spAutoFit/>
          </a:bodyPr>
          <a:lstStyle/>
          <a:p>
            <a:pPr>
              <a:spcAft>
                <a:spcPts val="300"/>
              </a:spcAft>
              <a:defRPr sz="1200" b="1">
                <a:solidFill>
                  <a:srgbClr val="17365D"/>
                </a:solidFill>
                <a:latin typeface="Calibri"/>
              </a:defRPr>
            </a:pPr>
            <a:r>
              <a:t>5. Phân hóa rõ rệt về thời gian tính toán:</a:t>
            </a:r>
          </a:p>
          <a:p>
            <a:pPr>
              <a:defRPr sz="1050">
                <a:solidFill>
                  <a:srgbClr val="0F172A"/>
                </a:solidFill>
                <a:latin typeface="Calibri"/>
              </a:defRPr>
            </a:pPr>
            <a:r>
              <a:t>Lan truyền tiến của mạng nơ-ron thực thi rất nhanh (Mean = 4,9 ms, Median = 4,8 ms), nhưng toàn chuỗi bị nghẽn ở khâu nghịch đảo Mel (NNLS) và ISTFT làm tăng độ trễ lên 159 ms.</a:t>
            </a:r>
          </a:p>
        </p:txBody>
      </p:sp>
      <p:sp>
        <p:nvSpPr>
          <p:cNvPr id="23" name="Rounded Rectangle 22"/>
          <p:cNvSpPr/>
          <p:nvPr/>
        </p:nvSpPr>
        <p:spPr>
          <a:xfrm>
            <a:off x="6172200" y="4480560"/>
            <a:ext cx="5257800" cy="141732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80560"/>
            <a:ext cx="137160"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590288"/>
            <a:ext cx="4846320" cy="1188720"/>
          </a:xfrm>
          <a:prstGeom prst="rect">
            <a:avLst/>
          </a:prstGeom>
          <a:noFill/>
        </p:spPr>
        <p:txBody>
          <a:bodyPr wrap="square">
            <a:spAutoFit/>
          </a:bodyPr>
          <a:lstStyle/>
          <a:p>
            <a:pPr>
              <a:spcAft>
                <a:spcPts val="300"/>
              </a:spcAft>
              <a:defRPr sz="1200" b="1">
                <a:solidFill>
                  <a:srgbClr val="17365D"/>
                </a:solidFill>
                <a:latin typeface="Calibri"/>
              </a:defRPr>
            </a:pPr>
            <a:r>
              <a:t>6. Tuyên bố khách quan về triển khai tại biên IoT:</a:t>
            </a:r>
          </a:p>
          <a:p>
            <a:pPr>
              <a:defRPr sz="1050">
                <a:solidFill>
                  <a:srgbClr val="0F172A"/>
                </a:solidFill>
                <a:latin typeface="Calibri"/>
              </a:defRPr>
            </a:pPr>
            <a:r>
              <a:t>Quy trình hiện tại là xử lý theo khối (block processing). Chưa đủ cơ sở khoa học để tuyên bố khả năng vận hành thời gian thực trên vi điều khiển MCU nếu chưa tối ưu toàn chuỗi.</a:t>
            </a:r>
          </a:p>
        </p:txBody>
      </p:sp>
      <p:sp>
        <p:nvSpPr>
          <p:cNvPr id="26" name="Rectangle 25"/>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9" name="Rounded Rectangle 28"/>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19 / 22</a:t>
            </a:r>
          </a:p>
        </p:txBody>
      </p:sp>
      <p:sp>
        <p:nvSpPr>
          <p:cNvPr id="30" name="TextBox 29"/>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3" action="ppaction://hlinksldjump"/>
              </a:rPr>
              <a:t>☰ Mục lục</a:t>
            </a:r>
            <a:r>
              <a:rPr sz="950">
                <a:solidFill>
                  <a:srgbClr val="475569"/>
                </a:solidFill>
                <a:latin typeface="Calibri"/>
              </a:rPr>
              <a:t>  |  </a:t>
            </a:r>
            <a:r>
              <a:rPr sz="950" b="1">
                <a:solidFill>
                  <a:srgbClr val="38BDF8"/>
                </a:solidFill>
                <a:latin typeface="Calibri"/>
                <a:hlinkClick r:id="rId4" action="ppaction://hlinksldjump"/>
              </a:rPr>
              <a:t>Trang sau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7.2. CÁC HẠN CHẾ VÀ HƯỚNG PHÁT TRIỂN TIẾP THEO</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Nhìn nhận khách quan các giới hạn kỹ thuật và lộ trình hoàn thiện hệ thống</a:t>
            </a:r>
          </a:p>
        </p:txBody>
      </p:sp>
      <p:sp>
        <p:nvSpPr>
          <p:cNvPr id="8" name="Rounded Rectangle 7"/>
          <p:cNvSpPr/>
          <p:nvPr/>
        </p:nvSpPr>
        <p:spPr>
          <a:xfrm>
            <a:off x="731520" y="1325880"/>
            <a:ext cx="5212080" cy="4892040"/>
          </a:xfrm>
          <a:prstGeom prst="roundRect">
            <a:avLst/>
          </a:prstGeom>
          <a:solidFill>
            <a:srgbClr val="FEE2E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5212080" cy="38404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CÁC HẠN CHẾ THỰC TẾ CỦA ĐỀ TÀI</a:t>
            </a:r>
          </a:p>
        </p:txBody>
      </p:sp>
      <p:sp>
        <p:nvSpPr>
          <p:cNvPr id="10" name="TextBox 9"/>
          <p:cNvSpPr txBox="1"/>
          <p:nvPr/>
        </p:nvSpPr>
        <p:spPr>
          <a:xfrm>
            <a:off x="914400" y="1828800"/>
            <a:ext cx="4846320" cy="4206240"/>
          </a:xfrm>
          <a:prstGeom prst="rect">
            <a:avLst/>
          </a:prstGeom>
          <a:noFill/>
        </p:spPr>
        <p:txBody>
          <a:bodyPr wrap="square">
            <a:spAutoFit/>
          </a:bodyPr>
          <a:lstStyle/>
          <a:p>
            <a:pPr>
              <a:spcAft>
                <a:spcPts val="400"/>
              </a:spcAft>
            </a:pPr>
            <a:r>
              <a:rPr b="1" sz="1100">
                <a:solidFill>
                  <a:srgbClr val="DC2626"/>
                </a:solidFill>
              </a:rPr>
              <a:t>1. Quy mô dữ liệu hẹp: </a:t>
            </a:r>
            <a:r>
              <a:rPr sz="1050">
                <a:solidFill>
                  <a:srgbClr val="0F172A"/>
                </a:solidFill>
              </a:rPr>
              <a:t>FSDD chỉ gồm các chữ số tiếng Anh biệt lập (0–9), chưa đại diện cho tiếng nói đàm thoại liên tục trong thực tế.</a:t>
            </a:r>
          </a:p>
          <a:p>
            <a:pPr>
              <a:spcAft>
                <a:spcPts val="400"/>
              </a:spcAft>
            </a:pPr>
            <a:r>
              <a:rPr b="1" sz="1100">
                <a:solidFill>
                  <a:srgbClr val="DC2626"/>
                </a:solidFill>
              </a:rPr>
              <a:t>2. Đánh giá trên một người nói kiểm thử: </a:t>
            </a:r>
            <a:r>
              <a:rPr sz="1050">
                <a:solidFill>
                  <a:srgbClr val="0F172A"/>
                </a:solidFill>
              </a:rPr>
              <a:t>Tập test hiện tại chỉ đánh giá trên 1 người nói (lucas), cần mở rộng kiểm định chéo người nói (Cross-validation).</a:t>
            </a:r>
          </a:p>
          <a:p>
            <a:pPr>
              <a:spcAft>
                <a:spcPts val="400"/>
              </a:spcAft>
            </a:pPr>
            <a:r>
              <a:rPr b="1" sz="1100">
                <a:solidFill>
                  <a:srgbClr val="DC2626"/>
                </a:solidFill>
              </a:rPr>
              <a:t>3. Tái tạo dạng sóng bằng pha nhiễu (Noisy Phase): </a:t>
            </a:r>
            <a:r>
              <a:rPr sz="1050">
                <a:solidFill>
                  <a:srgbClr val="0F172A"/>
                </a:solidFill>
              </a:rPr>
              <a:t>Mô hình chỉ ước lượng biên độ Log-mel và mượn lại góc pha nhiễu, gây giới hạn chất lượng khôi phục ở mức SNR cao.</a:t>
            </a:r>
          </a:p>
          <a:p>
            <a:pPr>
              <a:spcAft>
                <a:spcPts val="400"/>
              </a:spcAft>
            </a:pPr>
            <a:r>
              <a:rPr b="1" sz="1100">
                <a:solidFill>
                  <a:srgbClr val="DC2626"/>
                </a:solidFill>
              </a:rPr>
              <a:t>4. Nghịch đảo Mel (NNLS) quá nặng: </a:t>
            </a:r>
            <a:r>
              <a:rPr sz="1050">
                <a:solidFill>
                  <a:srgbClr val="0F172A"/>
                </a:solidFill>
              </a:rPr>
              <a:t>Thuật toán bình phương tối thiểu không âm tốn tới 154 ms, làm nghẽn toàn chuỗi xử lý.</a:t>
            </a:r>
          </a:p>
          <a:p>
            <a:pPr>
              <a:spcAft>
                <a:spcPts val="400"/>
              </a:spcAft>
            </a:pPr>
            <a:r>
              <a:rPr b="1" sz="1100">
                <a:solidFill>
                  <a:srgbClr val="DC2626"/>
                </a:solidFill>
              </a:rPr>
              <a:t>5. Chưa benchmark trên phần cứng nhúng thực tế: </a:t>
            </a:r>
            <a:r>
              <a:rPr sz="1050">
                <a:solidFill>
                  <a:srgbClr val="0F172A"/>
                </a:solidFill>
              </a:rPr>
              <a:t>Mới chỉ dừng lại ở phép đo trên CPU máy trạm mô phỏng, chưa nạp trực tiếp lên kit ESP32 / STM32.</a:t>
            </a:r>
          </a:p>
        </p:txBody>
      </p:sp>
      <p:sp>
        <p:nvSpPr>
          <p:cNvPr id="11" name="Rounded Rectangle 10"/>
          <p:cNvSpPr/>
          <p:nvPr/>
        </p:nvSpPr>
        <p:spPr>
          <a:xfrm>
            <a:off x="6217920" y="1325880"/>
            <a:ext cx="5242255" cy="48920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325880"/>
            <a:ext cx="5242255"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ĐỊNH HƯỚNG PHÁT TRIỂN TIẾP THEO</a:t>
            </a:r>
          </a:p>
        </p:txBody>
      </p:sp>
      <p:sp>
        <p:nvSpPr>
          <p:cNvPr id="13" name="TextBox 12"/>
          <p:cNvSpPr txBox="1"/>
          <p:nvPr/>
        </p:nvSpPr>
        <p:spPr>
          <a:xfrm>
            <a:off x="6400800" y="1828800"/>
            <a:ext cx="4876495" cy="4206240"/>
          </a:xfrm>
          <a:prstGeom prst="rect">
            <a:avLst/>
          </a:prstGeom>
          <a:noFill/>
        </p:spPr>
        <p:txBody>
          <a:bodyPr wrap="square">
            <a:spAutoFit/>
          </a:bodyPr>
          <a:lstStyle/>
          <a:p>
            <a:pPr>
              <a:spcAft>
                <a:spcPts val="400"/>
              </a:spcAft>
            </a:pPr>
            <a:r>
              <a:rPr b="1" sz="1100">
                <a:solidFill>
                  <a:srgbClr val="2563EB"/>
                </a:solidFill>
              </a:rPr>
              <a:t>1. Đánh giá đa người nói (Leave-One-Speaker-Out): </a:t>
            </a:r>
            <a:r>
              <a:rPr sz="1050">
                <a:solidFill>
                  <a:srgbClr val="0F172A"/>
                </a:solidFill>
              </a:rPr>
              <a:t>Thực hiện cross-validation trên toàn bộ 6 người nói trong FSDD để có kết quả tổng quát hóa vững chắc hơn.</a:t>
            </a:r>
          </a:p>
          <a:p>
            <a:pPr>
              <a:spcAft>
                <a:spcPts val="400"/>
              </a:spcAft>
            </a:pPr>
            <a:r>
              <a:rPr b="1" sz="1100">
                <a:solidFill>
                  <a:srgbClr val="2563EB"/>
                </a:solidFill>
              </a:rPr>
              <a:t>2. Mô hình ước lượng pha (Phase-Aware Enhancement): </a:t>
            </a:r>
            <a:r>
              <a:rPr sz="1050">
                <a:solidFill>
                  <a:srgbClr val="0F172A"/>
                </a:solidFill>
              </a:rPr>
              <a:t>Nghiên cứu kiến trúc xử lý phổ phức (Complex STFT / RI Spectrogram) hoặc mô hình miền thời gian (TasNet) để thoát khỏi phụ thuộc pha nhiễu.</a:t>
            </a:r>
          </a:p>
          <a:p>
            <a:pPr>
              <a:spcAft>
                <a:spcPts val="400"/>
              </a:spcAft>
            </a:pPr>
            <a:r>
              <a:rPr b="1" sz="1100">
                <a:solidFill>
                  <a:srgbClr val="2563EB"/>
                </a:solidFill>
              </a:rPr>
              <a:t>3. Tối ưu xấp xỉ nghịch đảo Mel: </a:t>
            </a:r>
            <a:r>
              <a:rPr sz="1050">
                <a:solidFill>
                  <a:srgbClr val="0F172A"/>
                </a:solidFill>
              </a:rPr>
              <a:t>Thay thế NNLS bằng bảng tra cứu (Look-Up Table) hoặc ma trận giả nghịch đảo cố định để đưa độ trễ về dưới 5 ms.</a:t>
            </a:r>
          </a:p>
          <a:p>
            <a:pPr>
              <a:spcAft>
                <a:spcPts val="400"/>
              </a:spcAft>
            </a:pPr>
            <a:r>
              <a:rPr b="1" sz="1100">
                <a:solidFill>
                  <a:srgbClr val="2563EB"/>
                </a:solidFill>
              </a:rPr>
              <a:t>4. Lượng tử hóa mô hình (INT8 Quantization): </a:t>
            </a:r>
            <a:r>
              <a:rPr sz="1050">
                <a:solidFill>
                  <a:srgbClr val="0F172A"/>
                </a:solidFill>
              </a:rPr>
              <a:t>Lượng tử hóa trọng số từ FP32 xuống INT8 (giảm kích thước mô hình từ 1,80 MB xuống ~450 KB), nạp lên TensorFlow Lite for Microcontrollers.</a:t>
            </a:r>
          </a:p>
          <a:p>
            <a:pPr>
              <a:spcAft>
                <a:spcPts val="400"/>
              </a:spcAft>
            </a:pPr>
            <a:r>
              <a:rPr b="1" sz="1100">
                <a:solidFill>
                  <a:srgbClr val="2563EB"/>
                </a:solidFill>
              </a:rPr>
              <a:t>5. Đo đạc thực tế trên phần cứng Edge AI: </a:t>
            </a:r>
            <a:r>
              <a:rPr sz="1050">
                <a:solidFill>
                  <a:srgbClr val="0F172A"/>
                </a:solidFill>
              </a:rPr>
              <a:t>Triển khai trực tiếp lên kit ESP32-S3 hoặc STM32H7 để đo đạc chính xác dòng điện tiêu thụ và độ trễ thực tế.</a:t>
            </a:r>
          </a:p>
        </p:txBody>
      </p:sp>
      <p:sp>
        <p:nvSpPr>
          <p:cNvPr id="14" name="Rectangle 13"/>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17" name="Rounded Rectangle 16"/>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20 / 22</a:t>
            </a:r>
          </a:p>
        </p:txBody>
      </p:sp>
      <p:sp>
        <p:nvSpPr>
          <p:cNvPr id="18" name="TextBox 17"/>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3" action="ppaction://hlinksldjump"/>
              </a:rPr>
              <a:t>☰ Mục lục</a:t>
            </a:r>
            <a:r>
              <a:rPr sz="950">
                <a:solidFill>
                  <a:srgbClr val="475569"/>
                </a:solidFill>
                <a:latin typeface="Calibri"/>
              </a:rPr>
              <a:t>  |  </a:t>
            </a:r>
            <a:r>
              <a:rPr sz="950" b="1">
                <a:solidFill>
                  <a:srgbClr val="38BDF8"/>
                </a:solidFill>
                <a:latin typeface="Calibri"/>
                <a:hlinkClick r:id="rId4" action="ppaction://hlinksldjump"/>
              </a:rPr>
              <a:t>Trang sau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8.1. TRẢI NGHIỆM THÍNH GIÁC VÀ SO SÁNH DẠNG SÓNG THỰC TẾ</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Mẫu thử nghiệm âm thanh thực tế từ thư mục results/audio_demo (người nói lucas)</a:t>
            </a:r>
          </a:p>
        </p:txBody>
      </p:sp>
      <p:sp>
        <p:nvSpPr>
          <p:cNvPr id="8" name="Rounded Rectangle 7"/>
          <p:cNvSpPr/>
          <p:nvPr/>
        </p:nvSpPr>
        <p:spPr>
          <a:xfrm>
            <a:off x="731520" y="1325880"/>
            <a:ext cx="10728655" cy="896112"/>
          </a:xfrm>
          <a:prstGeom prst="roundRect">
            <a:avLst/>
          </a:prstGeom>
          <a:solidFill>
            <a:srgbClr val="F1F5F9"/>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472184"/>
            <a:ext cx="603504" cy="603504"/>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1417320"/>
            <a:ext cx="7955279" cy="713232"/>
          </a:xfrm>
          <a:prstGeom prst="rect">
            <a:avLst/>
          </a:prstGeom>
          <a:noFill/>
        </p:spPr>
        <p:txBody>
          <a:bodyPr wrap="square">
            <a:spAutoFit/>
          </a:bodyPr>
          <a:lstStyle/>
          <a:p>
            <a:pPr>
              <a:defRPr sz="1200" b="1">
                <a:solidFill>
                  <a:srgbClr val="17365D"/>
                </a:solidFill>
                <a:latin typeface="Calibri"/>
              </a:defRPr>
            </a:pPr>
            <a:r>
              <a:t>1. Clean Speech (Nguyên bản)</a:t>
            </a:r>
          </a:p>
          <a:p>
            <a:pPr>
              <a:defRPr sz="1050">
                <a:solidFill>
                  <a:srgbClr val="0F172A"/>
                </a:solidFill>
                <a:latin typeface="Calibri"/>
              </a:defRPr>
            </a:pPr>
            <a:r>
              <a:t>Giọng nói chữ số sạch nguyên bản của người nói kiểm thử lucas. Âm sắc rõ ràng, không có bất kỳ tạp âm nào.</a:t>
            </a:r>
          </a:p>
        </p:txBody>
      </p:sp>
      <p:pic>
        <p:nvPicPr>
          <p:cNvPr id="11" name="clean.wav">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9784080" y="1508760"/>
            <a:ext cx="1463040" cy="548640"/>
          </a:xfrm>
          <a:prstGeom prst="rect">
            <a:avLst/>
          </a:prstGeom>
        </p:spPr>
      </p:pic>
      <p:sp>
        <p:nvSpPr>
          <p:cNvPr id="12" name="Rounded Rectangle 11"/>
          <p:cNvSpPr/>
          <p:nvPr/>
        </p:nvSpPr>
        <p:spPr>
          <a:xfrm>
            <a:off x="731520" y="2313432"/>
            <a:ext cx="10728655" cy="896112"/>
          </a:xfrm>
          <a:prstGeom prst="roundRect">
            <a:avLst/>
          </a:prstGeom>
          <a:solidFill>
            <a:srgbClr val="F1F5F9"/>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459736"/>
            <a:ext cx="603504" cy="603504"/>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4" name="TextBox 13"/>
          <p:cNvSpPr txBox="1"/>
          <p:nvPr/>
        </p:nvSpPr>
        <p:spPr>
          <a:xfrm>
            <a:off x="1645920" y="2404872"/>
            <a:ext cx="7955279" cy="713232"/>
          </a:xfrm>
          <a:prstGeom prst="rect">
            <a:avLst/>
          </a:prstGeom>
          <a:noFill/>
        </p:spPr>
        <p:txBody>
          <a:bodyPr wrap="square">
            <a:spAutoFit/>
          </a:bodyPr>
          <a:lstStyle/>
          <a:p>
            <a:pPr>
              <a:defRPr sz="1200" b="1">
                <a:solidFill>
                  <a:srgbClr val="64748B"/>
                </a:solidFill>
                <a:latin typeface="Calibri"/>
              </a:defRPr>
            </a:pPr>
            <a:r>
              <a:t>2. Noisy Input (AWGN 0 dB)</a:t>
            </a:r>
          </a:p>
          <a:p>
            <a:pPr>
              <a:defRPr sz="1050">
                <a:solidFill>
                  <a:srgbClr val="0F172A"/>
                </a:solidFill>
                <a:latin typeface="Calibri"/>
              </a:defRPr>
            </a:pPr>
            <a:r>
              <a:t>Tín hiệu sau khi pha trộn nhiễu trắng Gauss ở mức 0 dB. Năng lượng nhiễu lớn làm che lấp hoàn toàn các nguyên âm yếu.</a:t>
            </a:r>
          </a:p>
        </p:txBody>
      </p:sp>
      <p:pic>
        <p:nvPicPr>
          <p:cNvPr id="15" name="noisy.wav">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9784080" y="2496312"/>
            <a:ext cx="1463040" cy="548640"/>
          </a:xfrm>
          <a:prstGeom prst="rect">
            <a:avLst/>
          </a:prstGeom>
        </p:spPr>
      </p:pic>
      <p:sp>
        <p:nvSpPr>
          <p:cNvPr id="16" name="Rounded Rectangle 15"/>
          <p:cNvSpPr/>
          <p:nvPr/>
        </p:nvSpPr>
        <p:spPr>
          <a:xfrm>
            <a:off x="731520" y="3300984"/>
            <a:ext cx="10728655" cy="896112"/>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3447288"/>
            <a:ext cx="603504" cy="603504"/>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8" name="TextBox 17"/>
          <p:cNvSpPr txBox="1"/>
          <p:nvPr/>
        </p:nvSpPr>
        <p:spPr>
          <a:xfrm>
            <a:off x="1645920" y="3392424"/>
            <a:ext cx="7955279" cy="713232"/>
          </a:xfrm>
          <a:prstGeom prst="rect">
            <a:avLst/>
          </a:prstGeom>
          <a:noFill/>
        </p:spPr>
        <p:txBody>
          <a:bodyPr wrap="square">
            <a:spAutoFit/>
          </a:bodyPr>
          <a:lstStyle/>
          <a:p>
            <a:pPr>
              <a:defRPr sz="1200" b="1">
                <a:solidFill>
                  <a:srgbClr val="16A34A"/>
                </a:solidFill>
                <a:latin typeface="Calibri"/>
              </a:defRPr>
            </a:pPr>
            <a:r>
              <a:t>3. Spectral Subtraction Output</a:t>
            </a:r>
          </a:p>
          <a:p>
            <a:pPr>
              <a:defRPr sz="1050">
                <a:solidFill>
                  <a:srgbClr val="0F172A"/>
                </a:solidFill>
                <a:latin typeface="Calibri"/>
              </a:defRPr>
            </a:pPr>
            <a:r>
              <a:t>Giảm bớt tiếng rít nền nhưng xuất hiện hiện tượng 'tiếng ồn nhạc' (musical noise) lách tách gây chói tai và méo giọng.</a:t>
            </a:r>
          </a:p>
        </p:txBody>
      </p:sp>
      <p:pic>
        <p:nvPicPr>
          <p:cNvPr id="19" name="spectral_subtraction.wav">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4"/>
          <a:stretch>
            <a:fillRect/>
          </a:stretch>
        </p:blipFill>
        <p:spPr>
          <a:xfrm>
            <a:off x="9784080" y="3483864"/>
            <a:ext cx="1463040" cy="548640"/>
          </a:xfrm>
          <a:prstGeom prst="rect">
            <a:avLst/>
          </a:prstGeom>
        </p:spPr>
      </p:pic>
      <p:sp>
        <p:nvSpPr>
          <p:cNvPr id="20" name="Rounded Rectangle 19"/>
          <p:cNvSpPr/>
          <p:nvPr/>
        </p:nvSpPr>
        <p:spPr>
          <a:xfrm>
            <a:off x="731520" y="4288536"/>
            <a:ext cx="10728655" cy="896112"/>
          </a:xfrm>
          <a:prstGeom prst="roundRect">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434840"/>
            <a:ext cx="603504" cy="60350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2" name="TextBox 21"/>
          <p:cNvSpPr txBox="1"/>
          <p:nvPr/>
        </p:nvSpPr>
        <p:spPr>
          <a:xfrm>
            <a:off x="1645920" y="4379976"/>
            <a:ext cx="7955279" cy="713232"/>
          </a:xfrm>
          <a:prstGeom prst="rect">
            <a:avLst/>
          </a:prstGeom>
          <a:noFill/>
        </p:spPr>
        <p:txBody>
          <a:bodyPr wrap="square">
            <a:spAutoFit/>
          </a:bodyPr>
          <a:lstStyle/>
          <a:p>
            <a:pPr>
              <a:defRPr sz="1200" b="1">
                <a:solidFill>
                  <a:srgbClr val="7C3AED"/>
                </a:solidFill>
                <a:latin typeface="Calibri"/>
              </a:defRPr>
            </a:pPr>
            <a:r>
              <a:t>4. Wiener Decision-Directed Output</a:t>
            </a:r>
          </a:p>
          <a:p>
            <a:pPr>
              <a:defRPr sz="1050">
                <a:solidFill>
                  <a:srgbClr val="0F172A"/>
                </a:solidFill>
                <a:latin typeface="Calibri"/>
              </a:defRPr>
            </a:pPr>
            <a:r>
              <a:t>Tiếng ồn nền được dập êm dịu hơn nhưng giọng nói bị mỏng và nghẹt lại ở các tần số cao do làm mịn quá mức.</a:t>
            </a:r>
          </a:p>
        </p:txBody>
      </p:sp>
      <p:pic>
        <p:nvPicPr>
          <p:cNvPr id="23" name="wiener.wav">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4"/>
          <a:stretch>
            <a:fillRect/>
          </a:stretch>
        </p:blipFill>
        <p:spPr>
          <a:xfrm>
            <a:off x="9784080" y="4471416"/>
            <a:ext cx="1463040" cy="548640"/>
          </a:xfrm>
          <a:prstGeom prst="rect">
            <a:avLst/>
          </a:prstGeom>
        </p:spPr>
      </p:pic>
      <p:sp>
        <p:nvSpPr>
          <p:cNvPr id="24" name="Rounded Rectangle 23"/>
          <p:cNvSpPr/>
          <p:nvPr/>
        </p:nvSpPr>
        <p:spPr>
          <a:xfrm>
            <a:off x="731520" y="5276088"/>
            <a:ext cx="10728655" cy="896112"/>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5422392"/>
            <a:ext cx="603504" cy="60350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6" name="TextBox 25"/>
          <p:cNvSpPr txBox="1"/>
          <p:nvPr/>
        </p:nvSpPr>
        <p:spPr>
          <a:xfrm>
            <a:off x="1645920" y="5367528"/>
            <a:ext cx="7955279" cy="713232"/>
          </a:xfrm>
          <a:prstGeom prst="rect">
            <a:avLst/>
          </a:prstGeom>
          <a:noFill/>
        </p:spPr>
        <p:txBody>
          <a:bodyPr wrap="square">
            <a:spAutoFit/>
          </a:bodyPr>
          <a:lstStyle/>
          <a:p>
            <a:pPr>
              <a:defRPr sz="1200" b="1">
                <a:solidFill>
                  <a:srgbClr val="2563EB"/>
                </a:solidFill>
                <a:latin typeface="Calibri"/>
              </a:defRPr>
            </a:pPr>
            <a:r>
              <a:t>5. U-Net 2D DAE Output (Đề xuất)</a:t>
            </a:r>
          </a:p>
          <a:p>
            <a:pPr>
              <a:defRPr sz="1050">
                <a:solidFill>
                  <a:srgbClr val="0F172A"/>
                </a:solidFill>
                <a:latin typeface="Calibri"/>
              </a:defRPr>
            </a:pPr>
            <a:r>
              <a:t>Nhiễu nền được triệt tiêu mượt mà, cấu trúc formant của giọng nói được phục hồi tự nhiên, không có tiếng ồn nhạc.</a:t>
            </a:r>
          </a:p>
        </p:txBody>
      </p:sp>
      <p:pic>
        <p:nvPicPr>
          <p:cNvPr id="27" name="unet.wav">
            <a:hlinkClick r:id="" action="ppaction://media"/>
          </p:cNvPr>
          <p:cNvPicPr>
            <a:picLocks noChangeAspect="1"/>
          </p:cNvPicPr>
          <p:nvPr>
            <a:videoFile r:link="rId12"/>
            <p:extLst>
              <p:ext uri="{DAA4B4D4-6D71-4841-9C94-3DE7FCFB9230}">
                <p14:media xmlns:p14="http://schemas.microsoft.com/office/powerpoint/2010/main" r:embed="rId11"/>
              </p:ext>
            </p:extLst>
          </p:nvPr>
        </p:nvPicPr>
        <p:blipFill>
          <a:blip r:embed="rId4"/>
          <a:stretch>
            <a:fillRect/>
          </a:stretch>
        </p:blipFill>
        <p:spPr>
          <a:xfrm>
            <a:off x="9784080" y="5458968"/>
            <a:ext cx="1463040" cy="548640"/>
          </a:xfrm>
          <a:prstGeom prst="rect">
            <a:avLst/>
          </a:prstGeom>
        </p:spPr>
      </p:pic>
      <p:sp>
        <p:nvSpPr>
          <p:cNvPr id="28" name="Rectangle 27"/>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31" name="Rounded Rectangle 30"/>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21 / 22</a:t>
            </a:r>
          </a:p>
        </p:txBody>
      </p:sp>
      <p:sp>
        <p:nvSpPr>
          <p:cNvPr id="32" name="TextBox 31"/>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13" action="ppaction://hlinksldjump"/>
              </a:rPr>
              <a:t>◀ Trang trước</a:t>
            </a:r>
            <a:r>
              <a:rPr sz="950">
                <a:solidFill>
                  <a:srgbClr val="475569"/>
                </a:solidFill>
                <a:latin typeface="Calibri"/>
              </a:rPr>
              <a:t>  |  </a:t>
            </a:r>
            <a:r>
              <a:rPr sz="950" b="1">
                <a:solidFill>
                  <a:srgbClr val="F59E0B"/>
                </a:solidFill>
                <a:latin typeface="Calibri"/>
                <a:hlinkClick r:id="rId14" action="ppaction://hlinksldjump"/>
              </a:rPr>
              <a:t>☰ Mục lục</a:t>
            </a:r>
            <a:r>
              <a:rPr sz="950">
                <a:solidFill>
                  <a:srgbClr val="475569"/>
                </a:solidFill>
                <a:latin typeface="Calibri"/>
              </a:rPr>
              <a:t>  |  </a:t>
            </a:r>
            <a:r>
              <a:rPr sz="950" b="1">
                <a:solidFill>
                  <a:srgbClr val="38BDF8"/>
                </a:solidFill>
                <a:latin typeface="Calibri"/>
                <a:hlinkClick r:id="rId15" action="ppaction://hlinksldjump"/>
              </a:rPr>
              <a:t>Trang sau ▶</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video>
              <p:cMediaNode vol="80000">
                <p:cTn id="4" fill="hold" display="0">
                  <p:stCondLst>
                    <p:cond delay="indefinite"/>
                  </p:stCondLst>
                </p:cTn>
                <p:tgtEl>
                  <p:spTgt spid="19"/>
                </p:tgtEl>
              </p:cMediaNode>
            </p:video>
            <p:video>
              <p:cMediaNode vol="80000">
                <p:cTn id="5" fill="hold" display="0">
                  <p:stCondLst>
                    <p:cond delay="indefinite"/>
                  </p:stCondLst>
                </p:cTn>
                <p:tgtEl>
                  <p:spTgt spid="23"/>
                </p:tgtEl>
              </p:cMediaNode>
            </p:video>
            <p:video>
              <p:cMediaNode vol="80000">
                <p:cTn id="6" fill="hold" display="0">
                  <p:stCondLst>
                    <p:cond delay="indefinite"/>
                  </p:stCondLst>
                </p:cTn>
                <p:tgtEl>
                  <p:spTgt spid="27"/>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698480" cy="219456"/>
          </a:xfrm>
          <a:prstGeom prst="rect">
            <a:avLst/>
          </a:prstGeom>
          <a:noFill/>
        </p:spPr>
        <p:txBody>
          <a:bodyPr wrap="square" lIns="0" tIns="0" rIns="0" bIns="0">
            <a:spAutoFit/>
          </a:bodyPr>
          <a:lstStyle/>
          <a:p>
            <a:pPr>
              <a:defRPr sz="1000" b="1">
                <a:solidFill>
                  <a:srgbClr val="38BDF8"/>
                </a:solidFill>
                <a:latin typeface="Calibri"/>
              </a:defRPr>
            </a:pPr>
            <a:r>
              <a:t>BÁO CÁO TIỂU LUẬN NGHIÊN CỨU KHOA HỌC • AIOT331185_01CLC</a:t>
            </a:r>
          </a:p>
        </p:txBody>
      </p:sp>
      <p:sp>
        <p:nvSpPr>
          <p:cNvPr id="6" name="TextBox 5"/>
          <p:cNvSpPr txBox="1"/>
          <p:nvPr/>
        </p:nvSpPr>
        <p:spPr>
          <a:xfrm>
            <a:off x="731520" y="329184"/>
            <a:ext cx="10698480" cy="438912"/>
          </a:xfrm>
          <a:prstGeom prst="rect">
            <a:avLst/>
          </a:prstGeom>
          <a:noFill/>
        </p:spPr>
        <p:txBody>
          <a:bodyPr wrap="square" lIns="0" tIns="0" rIns="0" bIns="0">
            <a:spAutoFit/>
          </a:bodyPr>
          <a:lstStyle/>
          <a:p>
            <a:pPr>
              <a:defRPr sz="2100" b="1">
                <a:solidFill>
                  <a:srgbClr val="FFFFFF"/>
                </a:solidFill>
                <a:latin typeface="Calibri"/>
              </a:defRPr>
            </a:pPr>
            <a:r>
              <a:t>HỎI &amp; ĐÁP (Q&amp;A) - KẾT THÚC BÁO CÁO</a:t>
            </a:r>
          </a:p>
        </p:txBody>
      </p:sp>
      <p:sp>
        <p:nvSpPr>
          <p:cNvPr id="7" name="TextBox 6"/>
          <p:cNvSpPr txBox="1"/>
          <p:nvPr/>
        </p:nvSpPr>
        <p:spPr>
          <a:xfrm>
            <a:off x="731520" y="768096"/>
            <a:ext cx="10698480" cy="219456"/>
          </a:xfrm>
          <a:prstGeom prst="rect">
            <a:avLst/>
          </a:prstGeom>
          <a:noFill/>
        </p:spPr>
        <p:txBody>
          <a:bodyPr wrap="square" lIns="0" tIns="0" rIns="0" bIns="0">
            <a:spAutoFit/>
          </a:bodyPr>
          <a:lstStyle/>
          <a:p>
            <a:pPr>
              <a:defRPr sz="1100" i="1">
                <a:solidFill>
                  <a:srgbClr val="E0F2FE"/>
                </a:solidFill>
                <a:latin typeface="Calibri"/>
              </a:defRPr>
            </a:pPr>
            <a:r>
              <a:t>Tóm tắt chuỗi xử lý đề tài và giải đáp các câu hỏi từ Hội đồng đánh giá</a:t>
            </a:r>
          </a:p>
        </p:txBody>
      </p:sp>
      <p:sp>
        <p:nvSpPr>
          <p:cNvPr id="8" name="Rounded Rectangle 7"/>
          <p:cNvSpPr/>
          <p:nvPr/>
        </p:nvSpPr>
        <p:spPr>
          <a:xfrm>
            <a:off x="731520" y="1325880"/>
            <a:ext cx="10728655" cy="1737360"/>
          </a:xfrm>
          <a:prstGeom prst="roundRect">
            <a:avLst/>
          </a:prstGeom>
          <a:solidFill>
            <a:srgbClr val="FFFFFF"/>
          </a:solidFill>
          <a:ln w="19050">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325880"/>
            <a:ext cx="10728655" cy="384048"/>
          </a:xfrm>
          <a:prstGeom prst="round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ctr">
              <a:defRPr sz="1100" b="1">
                <a:solidFill>
                  <a:srgbClr val="FFFFFF"/>
                </a:solidFill>
                <a:latin typeface="Calibri"/>
              </a:defRPr>
            </a:pPr>
            <a:r>
              <a:t>TÓM TẮT QUY TRÌNH HỆ THỐNG KHỬ NHIỄU U-NET 2D DAE TRÊN LOG-MEL</a:t>
            </a:r>
          </a:p>
        </p:txBody>
      </p:sp>
      <p:sp>
        <p:nvSpPr>
          <p:cNvPr id="10" name="Rounded Rectangle 9"/>
          <p:cNvSpPr/>
          <p:nvPr/>
        </p:nvSpPr>
        <p:spPr>
          <a:xfrm>
            <a:off x="1005840" y="1874519"/>
            <a:ext cx="1737360" cy="960120"/>
          </a:xfrm>
          <a:prstGeom prst="roundRect">
            <a:avLst/>
          </a:prstGeom>
          <a:solidFill>
            <a:srgbClr val="F1F5F9"/>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64748B"/>
                </a:solidFill>
              </a:defRPr>
            </a:pPr>
            <a:r>
              <a:t>Tín hiệu y[n]</a:t>
            </a:r>
          </a:p>
          <a:p>
            <a:pPr algn="ctr">
              <a:defRPr sz="950">
                <a:solidFill>
                  <a:srgbClr val="0F172A"/>
                </a:solidFill>
              </a:defRPr>
            </a:pPr>
            <a:r>
              <a:t>8 kHz mono (FSDD)</a:t>
            </a:r>
          </a:p>
        </p:txBody>
      </p:sp>
      <p:sp>
        <p:nvSpPr>
          <p:cNvPr id="11" name="Right Arrow 10"/>
          <p:cNvSpPr/>
          <p:nvPr/>
        </p:nvSpPr>
        <p:spPr>
          <a:xfrm>
            <a:off x="2788920" y="2221991"/>
            <a:ext cx="228600"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63240" y="1874519"/>
            <a:ext cx="1737360" cy="96012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0D9488"/>
                </a:solidFill>
              </a:defRPr>
            </a:pPr>
            <a:r>
              <a:t>STFT + Mel</a:t>
            </a:r>
          </a:p>
          <a:p>
            <a:pPr algn="ctr">
              <a:defRPr sz="950">
                <a:solidFill>
                  <a:srgbClr val="0F172A"/>
                </a:solidFill>
              </a:defRPr>
            </a:pPr>
            <a:r>
              <a:t>64×64 Log-mel</a:t>
            </a:r>
          </a:p>
        </p:txBody>
      </p:sp>
      <p:sp>
        <p:nvSpPr>
          <p:cNvPr id="13" name="Right Arrow 12"/>
          <p:cNvSpPr/>
          <p:nvPr/>
        </p:nvSpPr>
        <p:spPr>
          <a:xfrm>
            <a:off x="4846320" y="2221991"/>
            <a:ext cx="228600"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874519"/>
            <a:ext cx="1737360" cy="96012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2563EB"/>
                </a:solidFill>
              </a:defRPr>
            </a:pPr>
            <a:r>
              <a:t>U-Net 2D DAE</a:t>
            </a:r>
          </a:p>
          <a:p>
            <a:pPr algn="ctr">
              <a:defRPr sz="950">
                <a:solidFill>
                  <a:srgbClr val="0F172A"/>
                </a:solidFill>
              </a:defRPr>
            </a:pPr>
            <a:r>
              <a:t>449k params (1,8 MB)</a:t>
            </a:r>
          </a:p>
        </p:txBody>
      </p:sp>
      <p:sp>
        <p:nvSpPr>
          <p:cNvPr id="15" name="Right Arrow 14"/>
          <p:cNvSpPr/>
          <p:nvPr/>
        </p:nvSpPr>
        <p:spPr>
          <a:xfrm>
            <a:off x="6903720" y="2221991"/>
            <a:ext cx="228600"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78040" y="1874519"/>
            <a:ext cx="1737360" cy="960120"/>
          </a:xfrm>
          <a:prstGeom prst="roundRect">
            <a:avLst/>
          </a:prstGeom>
          <a:solidFill>
            <a:srgbClr val="FEF3C7"/>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EA580C"/>
                </a:solidFill>
              </a:defRPr>
            </a:pPr>
            <a:r>
              <a:t>Inverse Mel</a:t>
            </a:r>
          </a:p>
          <a:p>
            <a:pPr algn="ctr">
              <a:defRPr sz="950">
                <a:solidFill>
                  <a:srgbClr val="0F172A"/>
                </a:solidFill>
              </a:defRPr>
            </a:pPr>
            <a:r>
              <a:t>NNLS Approximation</a:t>
            </a:r>
          </a:p>
        </p:txBody>
      </p:sp>
      <p:sp>
        <p:nvSpPr>
          <p:cNvPr id="17" name="Right Arrow 16"/>
          <p:cNvSpPr/>
          <p:nvPr/>
        </p:nvSpPr>
        <p:spPr>
          <a:xfrm>
            <a:off x="8961120" y="2221991"/>
            <a:ext cx="228600"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35440" y="1874519"/>
            <a:ext cx="1737360" cy="96012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16A34A"/>
                </a:solidFill>
              </a:defRPr>
            </a:pPr>
            <a:r>
              <a:t>Dạng sóng ŝ[n]</a:t>
            </a:r>
          </a:p>
          <a:p>
            <a:pPr algn="ctr">
              <a:defRPr sz="950">
                <a:solidFill>
                  <a:srgbClr val="0F172A"/>
                </a:solidFill>
              </a:defRPr>
            </a:pPr>
            <a:r>
              <a:t>Enhanced Speech</a:t>
            </a:r>
          </a:p>
        </p:txBody>
      </p:sp>
      <p:sp>
        <p:nvSpPr>
          <p:cNvPr id="19" name="Rounded Rectangle 18"/>
          <p:cNvSpPr/>
          <p:nvPr/>
        </p:nvSpPr>
        <p:spPr>
          <a:xfrm>
            <a:off x="731520" y="3291840"/>
            <a:ext cx="10728655" cy="2926080"/>
          </a:xfrm>
          <a:prstGeom prst="roundRect">
            <a:avLst/>
          </a:prstGeom>
          <a:solidFill>
            <a:srgbClr val="17365D"/>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3566160"/>
            <a:ext cx="9966960" cy="2377440"/>
          </a:xfrm>
          <a:prstGeom prst="rect">
            <a:avLst/>
          </a:prstGeom>
          <a:noFill/>
        </p:spPr>
        <p:txBody>
          <a:bodyPr wrap="square">
            <a:spAutoFit/>
          </a:bodyPr>
          <a:lstStyle/>
          <a:p>
            <a:pPr algn="ctr">
              <a:spcAft>
                <a:spcPts val="1000"/>
              </a:spcAft>
              <a:defRPr sz="2200" b="1">
                <a:solidFill>
                  <a:srgbClr val="F59E0B"/>
                </a:solidFill>
                <a:latin typeface="Calibri"/>
              </a:defRPr>
            </a:pPr>
            <a:r>
              <a:t>XIN CHÂN THÀNH CẢM ƠN QUÝ THẦY CÔ VÀ CÁC BẠN ĐÃ LẮNG NGHE!</a:t>
            </a:r>
          </a:p>
          <a:p>
            <a:pPr algn="ctr">
              <a:spcAft>
                <a:spcPts val="1600"/>
              </a:spcAft>
              <a:defRPr sz="1400">
                <a:solidFill>
                  <a:srgbClr val="FFFFFF"/>
                </a:solidFill>
                <a:latin typeface="Calibri"/>
              </a:defRPr>
            </a:pPr>
            <a:r>
              <a:t>Kính mong nhận được các ý kiến đóng góp, nhận xét và câu hỏi từ ThS. Hồ Nhựt Minh cùng Hội đồng đánh giá để đề tài được hoàn thiện hơn.</a:t>
            </a:r>
          </a:p>
          <a:p>
            <a:pPr algn="ctr">
              <a:defRPr sz="1200" i="1">
                <a:solidFill>
                  <a:srgbClr val="38BDF8"/>
                </a:solidFill>
                <a:latin typeface="Calibri"/>
              </a:defRPr>
            </a:pPr>
            <a:r>
              <a:t>Sinh viên thực hiện: Vũ Minh Đức • MSSV: 23110094</a:t>
            </a:r>
            <a:br/>
            <a:r>
              <a:t>Lớp: 231100CLC • Môn học: Trí tuệ nhân tạo cho IoT</a:t>
            </a:r>
            <a:br/>
            <a:r>
              <a:t>Trường Đại học Sư phạm Kỹ thuật TP. Hồ Chí Minh</a:t>
            </a:r>
          </a:p>
        </p:txBody>
      </p:sp>
      <p:sp>
        <p:nvSpPr>
          <p:cNvPr id="21" name="Rectangle 20"/>
          <p:cNvSpPr/>
          <p:nvPr/>
        </p:nvSpPr>
        <p:spPr>
          <a:xfrm>
            <a:off x="0" y="6419088"/>
            <a:ext cx="12191695" cy="438912"/>
          </a:xfrm>
          <a:prstGeom prst="rect">
            <a:avLst/>
          </a:prstGeom>
          <a:solidFill>
            <a:srgbClr val="0F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19088"/>
            <a:ext cx="121916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5303520" cy="274320"/>
          </a:xfrm>
          <a:prstGeom prst="rect">
            <a:avLst/>
          </a:prstGeom>
          <a:noFill/>
        </p:spPr>
        <p:txBody>
          <a:bodyPr wrap="square" lIns="0" tIns="0" rIns="0" bIns="0">
            <a:spAutoFit/>
          </a:bodyPr>
          <a:lstStyle/>
          <a:p>
            <a:pPr>
              <a:defRPr sz="950">
                <a:solidFill>
                  <a:srgbClr val="94A3B8"/>
                </a:solidFill>
                <a:latin typeface="Calibri"/>
              </a:defRPr>
            </a:pPr>
            <a:r>
              <a:t>Vũ Minh Đức (MSSV: 23110094) • AIOT331185_01CLC • GVHD: ThS. Hồ Nhựt Minh</a:t>
            </a:r>
          </a:p>
        </p:txBody>
      </p:sp>
      <p:sp>
        <p:nvSpPr>
          <p:cNvPr id="24" name="Rounded Rectangle 23"/>
          <p:cNvSpPr/>
          <p:nvPr/>
        </p:nvSpPr>
        <p:spPr>
          <a:xfrm>
            <a:off x="6217920" y="6492240"/>
            <a:ext cx="1645920" cy="292608"/>
          </a:xfrm>
          <a:prstGeom prst="roundRect">
            <a:avLst/>
          </a:prstGeom>
          <a:solidFill>
            <a:srgbClr val="17365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Calibri"/>
              </a:defRPr>
            </a:pPr>
            <a:r>
              <a:t>Trang 22 / 22</a:t>
            </a:r>
          </a:p>
        </p:txBody>
      </p:sp>
      <p:sp>
        <p:nvSpPr>
          <p:cNvPr id="25" name="TextBox 24"/>
          <p:cNvSpPr txBox="1"/>
          <p:nvPr/>
        </p:nvSpPr>
        <p:spPr>
          <a:xfrm>
            <a:off x="8046720" y="6510528"/>
            <a:ext cx="3383280" cy="274320"/>
          </a:xfrm>
          <a:prstGeom prst="rect">
            <a:avLst/>
          </a:prstGeom>
          <a:noFill/>
        </p:spPr>
        <p:txBody>
          <a:bodyPr wrap="square" lIns="0" tIns="0" rIns="0" bIns="0">
            <a:spAutoFit/>
          </a:bodyPr>
          <a:lstStyle/>
          <a:p>
            <a:pPr algn="r"/>
            <a:r>
              <a:rPr sz="950" b="1">
                <a:solidFill>
                  <a:srgbClr val="38BDF8"/>
                </a:solidFill>
                <a:latin typeface="Calibri"/>
                <a:hlinkClick r:id="rId2" action="ppaction://hlinksldjump"/>
              </a:rPr>
              <a:t>◀ Trang trước</a:t>
            </a:r>
            <a:r>
              <a:rPr sz="950">
                <a:solidFill>
                  <a:srgbClr val="475569"/>
                </a:solidFill>
                <a:latin typeface="Calibri"/>
              </a:rPr>
              <a:t>  |  </a:t>
            </a:r>
            <a:r>
              <a:rPr sz="950" b="1">
                <a:solidFill>
                  <a:srgbClr val="F59E0B"/>
                </a:solidFill>
                <a:latin typeface="Calibri"/>
                <a:hlinkClick r:id="rId3" action="ppaction://hlinksldjump"/>
              </a:rPr>
              <a:t>☰ Mục lục</a:t>
            </a:r>
            <a:r>
              <a:rPr sz="950">
                <a:solidFill>
                  <a:srgbClr val="475569"/>
                </a:solidFill>
                <a:latin typeface="Calibri"/>
              </a:rPr>
              <a:t>  |  </a:t>
            </a:r>
            <a:r>
              <a:rPr sz="950">
                <a:solidFill>
                  <a:srgbClr val="64748B"/>
                </a:solidFill>
                <a:latin typeface="Calibri"/>
              </a:rPr>
              <a:t>Trang sau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