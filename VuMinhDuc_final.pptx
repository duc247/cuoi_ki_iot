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8288000" cy="10287000"/>
  <p:notesSz cx="6858000" cy="9144000"/>
  <p:embeddedFontLst>
    <p:embeddedFont>
      <p:font typeface="Muli Heavy" charset="1" panose="00000A00000000000000"/>
      <p:regular r:id="rId21"/>
    </p:embeddedFont>
    <p:embeddedFont>
      <p:font typeface="Muli" charset="1" panose="00000500000000000000"/>
      <p:regular r:id="rId22"/>
    </p:embeddedFont>
    <p:embeddedFont>
      <p:font typeface="Muli Ultra-Bold" charset="1" panose="00000900000000000000"/>
      <p:regular r:id="rId23"/>
    </p:embeddedFont>
    <p:embeddedFont>
      <p:font typeface="Muli Semi-Bold" charset="1" panose="00000700000000000000"/>
      <p:regular r:id="rId24"/>
    </p:embeddedFont>
    <p:embeddedFont>
      <p:font typeface="Muli Bold" charset="1" panose="000008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11" Target="../media/image15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8.png" Type="http://schemas.openxmlformats.org/officeDocument/2006/relationships/image"/><Relationship Id="rId5" Target="../media/image9.svg" Type="http://schemas.openxmlformats.org/officeDocument/2006/relationships/image"/><Relationship Id="rId6" Target="../media/image10.png" Type="http://schemas.openxmlformats.org/officeDocument/2006/relationships/image"/><Relationship Id="rId7" Target="../media/image11.svg" Type="http://schemas.openxmlformats.org/officeDocument/2006/relationships/image"/><Relationship Id="rId8" Target="../media/image12.png" Type="http://schemas.openxmlformats.org/officeDocument/2006/relationships/image"/><Relationship Id="rId9" Target="../media/image13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Relationship Id="rId3" Target="../media/image19.png" Type="http://schemas.openxmlformats.org/officeDocument/2006/relationships/image"/><Relationship Id="rId4" Target="../media/image20.svg" Type="http://schemas.openxmlformats.org/officeDocument/2006/relationships/image"/><Relationship Id="rId5" Target="../media/image6.png" Type="http://schemas.openxmlformats.org/officeDocument/2006/relationships/image"/><Relationship Id="rId6" Target="../media/image7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7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8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29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3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Relationship Id="rId4" Target="../media/image3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10162" y="-1601348"/>
            <a:ext cx="15164891" cy="14061990"/>
          </a:xfrm>
          <a:custGeom>
            <a:avLst/>
            <a:gdLst/>
            <a:ahLst/>
            <a:cxnLst/>
            <a:rect r="r" b="b" t="t" l="l"/>
            <a:pathLst>
              <a:path h="14061990" w="15164891">
                <a:moveTo>
                  <a:pt x="0" y="0"/>
                </a:moveTo>
                <a:lnTo>
                  <a:pt x="15164891" y="0"/>
                </a:lnTo>
                <a:lnTo>
                  <a:pt x="15164891" y="14061990"/>
                </a:lnTo>
                <a:lnTo>
                  <a:pt x="0" y="140619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0444485" y="1614892"/>
            <a:ext cx="7324376" cy="7193148"/>
          </a:xfrm>
          <a:custGeom>
            <a:avLst/>
            <a:gdLst/>
            <a:ahLst/>
            <a:cxnLst/>
            <a:rect r="r" b="b" t="t" l="l"/>
            <a:pathLst>
              <a:path h="7193148" w="7324376">
                <a:moveTo>
                  <a:pt x="0" y="0"/>
                </a:moveTo>
                <a:lnTo>
                  <a:pt x="7324377" y="0"/>
                </a:lnTo>
                <a:lnTo>
                  <a:pt x="7324377" y="7193148"/>
                </a:lnTo>
                <a:lnTo>
                  <a:pt x="0" y="7193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247759" y="359976"/>
            <a:ext cx="8592926" cy="715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4"/>
              </a:lnSpc>
            </a:pPr>
            <a:r>
              <a:rPr lang="en-US" b="true" sz="44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TRÍ TUỆ NHÂN TẠO CHO IOT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729702" y="1032186"/>
            <a:ext cx="8324373" cy="1165412"/>
          </a:xfrm>
          <a:custGeom>
            <a:avLst/>
            <a:gdLst/>
            <a:ahLst/>
            <a:cxnLst/>
            <a:rect r="r" b="b" t="t" l="l"/>
            <a:pathLst>
              <a:path h="1165412" w="8324373">
                <a:moveTo>
                  <a:pt x="0" y="0"/>
                </a:moveTo>
                <a:lnTo>
                  <a:pt x="8324374" y="0"/>
                </a:lnTo>
                <a:lnTo>
                  <a:pt x="8324374" y="1165412"/>
                </a:lnTo>
                <a:lnTo>
                  <a:pt x="0" y="116541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47759" y="5950739"/>
            <a:ext cx="2884536" cy="1272802"/>
          </a:xfrm>
          <a:custGeom>
            <a:avLst/>
            <a:gdLst/>
            <a:ahLst/>
            <a:cxnLst/>
            <a:rect r="r" b="b" t="t" l="l"/>
            <a:pathLst>
              <a:path h="1272802" w="2884536">
                <a:moveTo>
                  <a:pt x="0" y="0"/>
                </a:moveTo>
                <a:lnTo>
                  <a:pt x="2884536" y="0"/>
                </a:lnTo>
                <a:lnTo>
                  <a:pt x="2884536" y="1272802"/>
                </a:lnTo>
                <a:lnTo>
                  <a:pt x="0" y="12728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555648" y="6305192"/>
            <a:ext cx="7498428" cy="4749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3"/>
              </a:lnSpc>
            </a:pPr>
            <a:r>
              <a:rPr lang="en-US" sz="2788">
                <a:solidFill>
                  <a:srgbClr val="FFFFFF"/>
                </a:solidFill>
                <a:latin typeface="Muli"/>
                <a:ea typeface="Muli"/>
                <a:cs typeface="Muli"/>
                <a:sym typeface="Muli"/>
              </a:rPr>
              <a:t> Chuyên ngành Trí Tuệ Nhân Tạo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8085" y="3527372"/>
            <a:ext cx="9813554" cy="1953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5296"/>
              </a:lnSpc>
            </a:pPr>
            <a:r>
              <a:rPr lang="en-US" b="true" sz="3417">
                <a:solidFill>
                  <a:srgbClr val="FFFFFF"/>
                </a:solidFill>
                <a:latin typeface="Muli Ultra-Bold"/>
                <a:ea typeface="Muli Ultra-Bold"/>
                <a:cs typeface="Muli Ultra-Bold"/>
                <a:sym typeface="Muli Ultra-Bold"/>
              </a:rPr>
              <a:t>KHỬ NHIỄU TIẾNG NÓI CHỮ SỐ BẰNG U-NET 2D DAE TRÊN LOG-MEL: ĐỐI CHỨNG WIENER VÀ SPECTRAL SUBTRACTION TRÊN FSDD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55703" y="8414801"/>
            <a:ext cx="7354077" cy="414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25872" indent="-262936" lvl="1">
              <a:lnSpc>
                <a:spcPts val="3410"/>
              </a:lnSpc>
              <a:buFont typeface="Arial"/>
              <a:buChar char="•"/>
            </a:pPr>
            <a:r>
              <a:rPr lang="en-US" b="true" sz="2435">
                <a:solidFill>
                  <a:srgbClr val="FFFFFF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Giáo viên hướng dẫn: Ths. Hồ Nhựt Minh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55703" y="7916737"/>
            <a:ext cx="6153183" cy="414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25872" indent="-262936" lvl="1">
              <a:lnSpc>
                <a:spcPts val="3410"/>
              </a:lnSpc>
              <a:buFont typeface="Arial"/>
              <a:buChar char="•"/>
            </a:pPr>
            <a:r>
              <a:rPr lang="en-US" b="true" sz="2435">
                <a:solidFill>
                  <a:srgbClr val="FFFFFF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Sinh viên thực hiện: Vũ Minh Đức 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983232" y="-361368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11571259" y="0"/>
                </a:moveTo>
                <a:lnTo>
                  <a:pt x="0" y="0"/>
                </a:lnTo>
                <a:lnTo>
                  <a:pt x="0" y="6214731"/>
                </a:lnTo>
                <a:lnTo>
                  <a:pt x="11571259" y="6214731"/>
                </a:lnTo>
                <a:lnTo>
                  <a:pt x="11571259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1097" y="3051810"/>
            <a:ext cx="6709037" cy="5956700"/>
            <a:chOff x="0" y="0"/>
            <a:chExt cx="1780147" cy="158052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80147" cy="1580525"/>
            </a:xfrm>
            <a:custGeom>
              <a:avLst/>
              <a:gdLst/>
              <a:ahLst/>
              <a:cxnLst/>
              <a:rect r="r" b="b" t="t" l="l"/>
              <a:pathLst>
                <a:path h="1580525" w="1780147">
                  <a:moveTo>
                    <a:pt x="24233" y="0"/>
                  </a:moveTo>
                  <a:lnTo>
                    <a:pt x="1755914" y="0"/>
                  </a:lnTo>
                  <a:cubicBezTo>
                    <a:pt x="1762341" y="0"/>
                    <a:pt x="1768504" y="2553"/>
                    <a:pt x="1773049" y="7098"/>
                  </a:cubicBezTo>
                  <a:cubicBezTo>
                    <a:pt x="1777594" y="11642"/>
                    <a:pt x="1780147" y="17806"/>
                    <a:pt x="1780147" y="24233"/>
                  </a:cubicBezTo>
                  <a:lnTo>
                    <a:pt x="1780147" y="1556292"/>
                  </a:lnTo>
                  <a:cubicBezTo>
                    <a:pt x="1780147" y="1562719"/>
                    <a:pt x="1777594" y="1568883"/>
                    <a:pt x="1773049" y="1573427"/>
                  </a:cubicBezTo>
                  <a:cubicBezTo>
                    <a:pt x="1768504" y="1577972"/>
                    <a:pt x="1762341" y="1580525"/>
                    <a:pt x="1755914" y="1580525"/>
                  </a:cubicBezTo>
                  <a:lnTo>
                    <a:pt x="24233" y="1580525"/>
                  </a:lnTo>
                  <a:cubicBezTo>
                    <a:pt x="17806" y="1580525"/>
                    <a:pt x="11642" y="1577972"/>
                    <a:pt x="7098" y="1573427"/>
                  </a:cubicBezTo>
                  <a:cubicBezTo>
                    <a:pt x="2553" y="1568883"/>
                    <a:pt x="0" y="1562719"/>
                    <a:pt x="0" y="1556292"/>
                  </a:cubicBezTo>
                  <a:lnTo>
                    <a:pt x="0" y="24233"/>
                  </a:lnTo>
                  <a:cubicBezTo>
                    <a:pt x="0" y="17806"/>
                    <a:pt x="2553" y="11642"/>
                    <a:pt x="7098" y="7098"/>
                  </a:cubicBezTo>
                  <a:cubicBezTo>
                    <a:pt x="11642" y="2553"/>
                    <a:pt x="17806" y="0"/>
                    <a:pt x="24233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30036">
                    <a:alpha val="100000"/>
                  </a:srgbClr>
                </a:gs>
                <a:gs pos="50000">
                  <a:srgbClr val="174C7C">
                    <a:alpha val="100000"/>
                  </a:srgbClr>
                </a:gs>
                <a:gs pos="100000">
                  <a:srgbClr val="00162A">
                    <a:alpha val="100000"/>
                  </a:srgbClr>
                </a:gs>
              </a:gsLst>
              <a:path path="circle">
                <a:fillToRect l="0" r="100000" t="0" b="100000"/>
              </a:path>
              <a:tileRect r="0" l="-100000" b="0" t="-100000"/>
            </a:gradFill>
            <a:ln w="38100" cap="rnd">
              <a:solidFill>
                <a:srgbClr val="E2E2E2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780147" cy="1628150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517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>
            <a:off x="1341325" y="5136481"/>
            <a:ext cx="383171" cy="2962002"/>
          </a:xfrm>
          <a:custGeom>
            <a:avLst/>
            <a:gdLst/>
            <a:ahLst/>
            <a:cxnLst/>
            <a:rect r="r" b="b" t="t" l="l"/>
            <a:pathLst>
              <a:path h="2962002" w="383171">
                <a:moveTo>
                  <a:pt x="368537" y="0"/>
                </a:moveTo>
                <a:lnTo>
                  <a:pt x="0" y="0"/>
                </a:lnTo>
                <a:lnTo>
                  <a:pt x="0" y="2962002"/>
                </a:lnTo>
                <a:lnTo>
                  <a:pt x="383171" y="2962002"/>
                </a:lnTo>
              </a:path>
            </a:pathLst>
          </a:cu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flipH="true">
            <a:off x="12589371" y="7282478"/>
            <a:ext cx="2281" cy="281652"/>
          </a:xfrm>
          <a:prstGeom prst="line">
            <a:avLst/>
          </a:prstGeom>
          <a:ln cap="flat" w="28575">
            <a:gradFill>
              <a:gsLst>
                <a:gs pos="0">
                  <a:srgbClr val="230036">
                    <a:alpha val="100000"/>
                  </a:srgbClr>
                </a:gs>
                <a:gs pos="50000">
                  <a:srgbClr val="174C7C">
                    <a:alpha val="100000"/>
                  </a:srgbClr>
                </a:gs>
                <a:gs pos="100000">
                  <a:srgbClr val="00162A">
                    <a:alpha val="100000"/>
                  </a:srgbClr>
                </a:gs>
              </a:gsLst>
              <a:path path="circle">
                <a:fillToRect l="0" r="100000" t="0" b="100000"/>
              </a:path>
              <a:tileRect r="0" l="-100000" b="0" t="-10000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1371886" y="6613786"/>
            <a:ext cx="352610" cy="3697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1709862" y="4705120"/>
            <a:ext cx="5729436" cy="862721"/>
            <a:chOff x="0" y="0"/>
            <a:chExt cx="1641650" cy="24719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641650" cy="247195"/>
            </a:xfrm>
            <a:custGeom>
              <a:avLst/>
              <a:gdLst/>
              <a:ahLst/>
              <a:cxnLst/>
              <a:rect r="r" b="b" t="t" l="l"/>
              <a:pathLst>
                <a:path h="247195" w="1641650">
                  <a:moveTo>
                    <a:pt x="93236" y="0"/>
                  </a:moveTo>
                  <a:lnTo>
                    <a:pt x="1548413" y="0"/>
                  </a:lnTo>
                  <a:cubicBezTo>
                    <a:pt x="1599906" y="0"/>
                    <a:pt x="1641650" y="41743"/>
                    <a:pt x="1641650" y="93236"/>
                  </a:cubicBezTo>
                  <a:lnTo>
                    <a:pt x="1641650" y="153958"/>
                  </a:lnTo>
                  <a:cubicBezTo>
                    <a:pt x="1641650" y="178686"/>
                    <a:pt x="1631827" y="202401"/>
                    <a:pt x="1614341" y="219886"/>
                  </a:cubicBezTo>
                  <a:cubicBezTo>
                    <a:pt x="1596856" y="237372"/>
                    <a:pt x="1573141" y="247195"/>
                    <a:pt x="1548413" y="247195"/>
                  </a:cubicBezTo>
                  <a:lnTo>
                    <a:pt x="93236" y="247195"/>
                  </a:lnTo>
                  <a:cubicBezTo>
                    <a:pt x="41743" y="247195"/>
                    <a:pt x="0" y="205451"/>
                    <a:pt x="0" y="153958"/>
                  </a:cubicBezTo>
                  <a:lnTo>
                    <a:pt x="0" y="93236"/>
                  </a:lnTo>
                  <a:cubicBezTo>
                    <a:pt x="0" y="41743"/>
                    <a:pt x="41743" y="0"/>
                    <a:pt x="9323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28575"/>
              <a:ext cx="1641650" cy="275770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724496" y="6186121"/>
            <a:ext cx="5714802" cy="862721"/>
            <a:chOff x="0" y="0"/>
            <a:chExt cx="1637456" cy="24719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637456" cy="247195"/>
            </a:xfrm>
            <a:custGeom>
              <a:avLst/>
              <a:gdLst/>
              <a:ahLst/>
              <a:cxnLst/>
              <a:rect r="r" b="b" t="t" l="l"/>
              <a:pathLst>
                <a:path h="247195" w="1637456">
                  <a:moveTo>
                    <a:pt x="93475" y="0"/>
                  </a:moveTo>
                  <a:lnTo>
                    <a:pt x="1543981" y="0"/>
                  </a:lnTo>
                  <a:cubicBezTo>
                    <a:pt x="1595606" y="0"/>
                    <a:pt x="1637456" y="41850"/>
                    <a:pt x="1637456" y="93475"/>
                  </a:cubicBezTo>
                  <a:lnTo>
                    <a:pt x="1637456" y="153719"/>
                  </a:lnTo>
                  <a:cubicBezTo>
                    <a:pt x="1637456" y="178511"/>
                    <a:pt x="1627608" y="202286"/>
                    <a:pt x="1610078" y="219816"/>
                  </a:cubicBezTo>
                  <a:cubicBezTo>
                    <a:pt x="1592548" y="237346"/>
                    <a:pt x="1568772" y="247195"/>
                    <a:pt x="1543981" y="247195"/>
                  </a:cubicBezTo>
                  <a:lnTo>
                    <a:pt x="93475" y="247195"/>
                  </a:lnTo>
                  <a:cubicBezTo>
                    <a:pt x="68684" y="247195"/>
                    <a:pt x="44908" y="237346"/>
                    <a:pt x="27378" y="219816"/>
                  </a:cubicBezTo>
                  <a:cubicBezTo>
                    <a:pt x="9848" y="202286"/>
                    <a:pt x="0" y="178511"/>
                    <a:pt x="0" y="153719"/>
                  </a:cubicBezTo>
                  <a:lnTo>
                    <a:pt x="0" y="93475"/>
                  </a:lnTo>
                  <a:cubicBezTo>
                    <a:pt x="0" y="68684"/>
                    <a:pt x="9848" y="44908"/>
                    <a:pt x="27378" y="27378"/>
                  </a:cubicBezTo>
                  <a:cubicBezTo>
                    <a:pt x="44908" y="9848"/>
                    <a:pt x="68684" y="0"/>
                    <a:pt x="934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28575"/>
              <a:ext cx="1637456" cy="275770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724496" y="7667123"/>
            <a:ext cx="5714802" cy="862721"/>
            <a:chOff x="0" y="0"/>
            <a:chExt cx="1637456" cy="24719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637456" cy="247195"/>
            </a:xfrm>
            <a:custGeom>
              <a:avLst/>
              <a:gdLst/>
              <a:ahLst/>
              <a:cxnLst/>
              <a:rect r="r" b="b" t="t" l="l"/>
              <a:pathLst>
                <a:path h="247195" w="1637456">
                  <a:moveTo>
                    <a:pt x="93475" y="0"/>
                  </a:moveTo>
                  <a:lnTo>
                    <a:pt x="1543981" y="0"/>
                  </a:lnTo>
                  <a:cubicBezTo>
                    <a:pt x="1595606" y="0"/>
                    <a:pt x="1637456" y="41850"/>
                    <a:pt x="1637456" y="93475"/>
                  </a:cubicBezTo>
                  <a:lnTo>
                    <a:pt x="1637456" y="153719"/>
                  </a:lnTo>
                  <a:cubicBezTo>
                    <a:pt x="1637456" y="178511"/>
                    <a:pt x="1627608" y="202286"/>
                    <a:pt x="1610078" y="219816"/>
                  </a:cubicBezTo>
                  <a:cubicBezTo>
                    <a:pt x="1592548" y="237346"/>
                    <a:pt x="1568772" y="247195"/>
                    <a:pt x="1543981" y="247195"/>
                  </a:cubicBezTo>
                  <a:lnTo>
                    <a:pt x="93475" y="247195"/>
                  </a:lnTo>
                  <a:cubicBezTo>
                    <a:pt x="68684" y="247195"/>
                    <a:pt x="44908" y="237346"/>
                    <a:pt x="27378" y="219816"/>
                  </a:cubicBezTo>
                  <a:cubicBezTo>
                    <a:pt x="9848" y="202286"/>
                    <a:pt x="0" y="178511"/>
                    <a:pt x="0" y="153719"/>
                  </a:cubicBezTo>
                  <a:lnTo>
                    <a:pt x="0" y="93475"/>
                  </a:lnTo>
                  <a:cubicBezTo>
                    <a:pt x="0" y="68684"/>
                    <a:pt x="9848" y="44908"/>
                    <a:pt x="27378" y="27378"/>
                  </a:cubicBezTo>
                  <a:cubicBezTo>
                    <a:pt x="44908" y="9848"/>
                    <a:pt x="68684" y="0"/>
                    <a:pt x="9347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28575"/>
              <a:ext cx="1637456" cy="275770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934077" y="4820031"/>
            <a:ext cx="656705" cy="632899"/>
          </a:xfrm>
          <a:custGeom>
            <a:avLst/>
            <a:gdLst/>
            <a:ahLst/>
            <a:cxnLst/>
            <a:rect r="r" b="b" t="t" l="l"/>
            <a:pathLst>
              <a:path h="632899" w="656705">
                <a:moveTo>
                  <a:pt x="0" y="0"/>
                </a:moveTo>
                <a:lnTo>
                  <a:pt x="656705" y="0"/>
                </a:lnTo>
                <a:lnTo>
                  <a:pt x="656705" y="632900"/>
                </a:lnTo>
                <a:lnTo>
                  <a:pt x="0" y="632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974404" y="6329457"/>
            <a:ext cx="576051" cy="576051"/>
          </a:xfrm>
          <a:custGeom>
            <a:avLst/>
            <a:gdLst/>
            <a:ahLst/>
            <a:cxnLst/>
            <a:rect r="r" b="b" t="t" l="l"/>
            <a:pathLst>
              <a:path h="576051" w="576051">
                <a:moveTo>
                  <a:pt x="0" y="0"/>
                </a:moveTo>
                <a:lnTo>
                  <a:pt x="576051" y="0"/>
                </a:lnTo>
                <a:lnTo>
                  <a:pt x="576051" y="576051"/>
                </a:lnTo>
                <a:lnTo>
                  <a:pt x="0" y="57605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976832" y="7792213"/>
            <a:ext cx="571195" cy="612542"/>
          </a:xfrm>
          <a:custGeom>
            <a:avLst/>
            <a:gdLst/>
            <a:ahLst/>
            <a:cxnLst/>
            <a:rect r="r" b="b" t="t" l="l"/>
            <a:pathLst>
              <a:path h="612542" w="571195">
                <a:moveTo>
                  <a:pt x="0" y="0"/>
                </a:moveTo>
                <a:lnTo>
                  <a:pt x="571195" y="0"/>
                </a:lnTo>
                <a:lnTo>
                  <a:pt x="571195" y="612541"/>
                </a:lnTo>
                <a:lnTo>
                  <a:pt x="0" y="61254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9647255" y="5091752"/>
            <a:ext cx="6604723" cy="3302361"/>
          </a:xfrm>
          <a:custGeom>
            <a:avLst/>
            <a:gdLst/>
            <a:ahLst/>
            <a:cxnLst/>
            <a:rect r="r" b="b" t="t" l="l"/>
            <a:pathLst>
              <a:path h="3302361" w="6604723">
                <a:moveTo>
                  <a:pt x="0" y="0"/>
                </a:moveTo>
                <a:lnTo>
                  <a:pt x="6604723" y="0"/>
                </a:lnTo>
                <a:lnTo>
                  <a:pt x="6604723" y="3302362"/>
                </a:lnTo>
                <a:lnTo>
                  <a:pt x="0" y="33023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0892216" y="4415044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533489" y="320962"/>
            <a:ext cx="14678297" cy="707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62"/>
              </a:lnSpc>
            </a:pPr>
            <a:r>
              <a:rPr lang="en-US" b="true" sz="4187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NỘI DUNG THUYẾT TRÌNH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972559" y="3323800"/>
            <a:ext cx="4806113" cy="5434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23"/>
              </a:lnSpc>
            </a:pPr>
            <a:r>
              <a:rPr lang="en-US" b="true" sz="3230">
                <a:solidFill>
                  <a:srgbClr val="E9EEF3"/>
                </a:solidFill>
                <a:latin typeface="Muli Bold"/>
                <a:ea typeface="Muli Bold"/>
                <a:cs typeface="Muli Bold"/>
                <a:sym typeface="Muli Bold"/>
              </a:rPr>
              <a:t>LIST CONTENTS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2682021" y="4919556"/>
            <a:ext cx="4022084" cy="39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0"/>
              </a:lnSpc>
            </a:pPr>
            <a:r>
              <a:rPr lang="en-US" b="true" sz="2407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Bold"/>
                <a:ea typeface="Muli Bold"/>
                <a:cs typeface="Muli Bold"/>
                <a:sym typeface="Muli Bold"/>
              </a:rPr>
              <a:t>Tổng quan về đề tài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682021" y="6400557"/>
            <a:ext cx="4022084" cy="39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0"/>
              </a:lnSpc>
            </a:pPr>
            <a:r>
              <a:rPr lang="en-US" b="true" sz="2407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Bold"/>
                <a:ea typeface="Muli Bold"/>
                <a:cs typeface="Muli Bold"/>
                <a:sym typeface="Muli Bold"/>
              </a:rPr>
              <a:t>Các Phương Pháp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682021" y="7881559"/>
            <a:ext cx="4663069" cy="395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70"/>
              </a:lnSpc>
            </a:pPr>
            <a:r>
              <a:rPr lang="en-US" b="true" sz="2407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Bold"/>
                <a:ea typeface="Muli Bold"/>
                <a:cs typeface="Muli Bold"/>
                <a:sym typeface="Muli Bold"/>
              </a:rPr>
              <a:t>Thực nghiệm và đánh giá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533489" y="1157529"/>
            <a:ext cx="14678297" cy="707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62"/>
              </a:lnSpc>
            </a:pPr>
            <a:r>
              <a:rPr lang="en-US" b="true" sz="4187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KHỬ NHIỄU TIẾNG NÓI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85528" y="1540872"/>
            <a:ext cx="7796720" cy="6858896"/>
            <a:chOff x="0" y="0"/>
            <a:chExt cx="2233986" cy="196527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33986" cy="1965272"/>
            </a:xfrm>
            <a:custGeom>
              <a:avLst/>
              <a:gdLst/>
              <a:ahLst/>
              <a:cxnLst/>
              <a:rect r="r" b="b" t="t" l="l"/>
              <a:pathLst>
                <a:path h="1965272" w="2233986">
                  <a:moveTo>
                    <a:pt x="25817" y="0"/>
                  </a:moveTo>
                  <a:lnTo>
                    <a:pt x="2208169" y="0"/>
                  </a:lnTo>
                  <a:cubicBezTo>
                    <a:pt x="2222428" y="0"/>
                    <a:pt x="2233986" y="11559"/>
                    <a:pt x="2233986" y="25817"/>
                  </a:cubicBezTo>
                  <a:lnTo>
                    <a:pt x="2233986" y="1939455"/>
                  </a:lnTo>
                  <a:cubicBezTo>
                    <a:pt x="2233986" y="1946302"/>
                    <a:pt x="2231266" y="1952869"/>
                    <a:pt x="2226425" y="1957711"/>
                  </a:cubicBezTo>
                  <a:cubicBezTo>
                    <a:pt x="2221583" y="1962552"/>
                    <a:pt x="2215016" y="1965272"/>
                    <a:pt x="2208169" y="1965272"/>
                  </a:cubicBezTo>
                  <a:lnTo>
                    <a:pt x="25817" y="1965272"/>
                  </a:lnTo>
                  <a:cubicBezTo>
                    <a:pt x="18970" y="1965272"/>
                    <a:pt x="12403" y="1962552"/>
                    <a:pt x="7562" y="1957711"/>
                  </a:cubicBezTo>
                  <a:cubicBezTo>
                    <a:pt x="2720" y="1952869"/>
                    <a:pt x="0" y="1946302"/>
                    <a:pt x="0" y="1939455"/>
                  </a:cubicBezTo>
                  <a:lnTo>
                    <a:pt x="0" y="25817"/>
                  </a:lnTo>
                  <a:cubicBezTo>
                    <a:pt x="0" y="18970"/>
                    <a:pt x="2720" y="12403"/>
                    <a:pt x="7562" y="7562"/>
                  </a:cubicBezTo>
                  <a:cubicBezTo>
                    <a:pt x="12403" y="2720"/>
                    <a:pt x="18970" y="0"/>
                    <a:pt x="2581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2233986" cy="1993847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348815" y="1059114"/>
            <a:ext cx="7852083" cy="8168773"/>
            <a:chOff x="0" y="0"/>
            <a:chExt cx="756634" cy="7871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56634" cy="787151"/>
            </a:xfrm>
            <a:custGeom>
              <a:avLst/>
              <a:gdLst/>
              <a:ahLst/>
              <a:cxnLst/>
              <a:rect r="r" b="b" t="t" l="l"/>
              <a:pathLst>
                <a:path h="787151" w="756634">
                  <a:moveTo>
                    <a:pt x="35495" y="0"/>
                  </a:moveTo>
                  <a:lnTo>
                    <a:pt x="721139" y="0"/>
                  </a:lnTo>
                  <a:cubicBezTo>
                    <a:pt x="730553" y="0"/>
                    <a:pt x="739582" y="3740"/>
                    <a:pt x="746238" y="10396"/>
                  </a:cubicBezTo>
                  <a:cubicBezTo>
                    <a:pt x="752895" y="17053"/>
                    <a:pt x="756634" y="26081"/>
                    <a:pt x="756634" y="35495"/>
                  </a:cubicBezTo>
                  <a:lnTo>
                    <a:pt x="756634" y="751656"/>
                  </a:lnTo>
                  <a:cubicBezTo>
                    <a:pt x="756634" y="761070"/>
                    <a:pt x="752895" y="770098"/>
                    <a:pt x="746238" y="776755"/>
                  </a:cubicBezTo>
                  <a:cubicBezTo>
                    <a:pt x="739582" y="783411"/>
                    <a:pt x="730553" y="787151"/>
                    <a:pt x="721139" y="787151"/>
                  </a:cubicBezTo>
                  <a:lnTo>
                    <a:pt x="35495" y="787151"/>
                  </a:lnTo>
                  <a:cubicBezTo>
                    <a:pt x="15892" y="787151"/>
                    <a:pt x="0" y="771259"/>
                    <a:pt x="0" y="751656"/>
                  </a:cubicBezTo>
                  <a:lnTo>
                    <a:pt x="0" y="35495"/>
                  </a:lnTo>
                  <a:cubicBezTo>
                    <a:pt x="0" y="26081"/>
                    <a:pt x="3740" y="17053"/>
                    <a:pt x="10396" y="10396"/>
                  </a:cubicBezTo>
                  <a:cubicBezTo>
                    <a:pt x="17053" y="3740"/>
                    <a:pt x="26081" y="0"/>
                    <a:pt x="35495" y="0"/>
                  </a:cubicBezTo>
                  <a:close/>
                </a:path>
              </a:pathLst>
            </a:custGeom>
            <a:blipFill>
              <a:blip r:embed="rId2"/>
              <a:stretch>
                <a:fillRect l="-39808" t="0" r="-16192" b="0"/>
              </a:stretch>
            </a:blip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-10800000">
            <a:off x="9348815" y="1059114"/>
            <a:ext cx="7852083" cy="5429866"/>
            <a:chOff x="0" y="0"/>
            <a:chExt cx="2083438" cy="144073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83438" cy="1440737"/>
            </a:xfrm>
            <a:custGeom>
              <a:avLst/>
              <a:gdLst/>
              <a:ahLst/>
              <a:cxnLst/>
              <a:rect r="r" b="b" t="t" l="l"/>
              <a:pathLst>
                <a:path h="1440737" w="2083438">
                  <a:moveTo>
                    <a:pt x="35495" y="0"/>
                  </a:moveTo>
                  <a:lnTo>
                    <a:pt x="2047943" y="0"/>
                  </a:lnTo>
                  <a:cubicBezTo>
                    <a:pt x="2057356" y="0"/>
                    <a:pt x="2066385" y="3740"/>
                    <a:pt x="2073041" y="10396"/>
                  </a:cubicBezTo>
                  <a:cubicBezTo>
                    <a:pt x="2079698" y="17053"/>
                    <a:pt x="2083438" y="26081"/>
                    <a:pt x="2083438" y="35495"/>
                  </a:cubicBezTo>
                  <a:lnTo>
                    <a:pt x="2083438" y="1405242"/>
                  </a:lnTo>
                  <a:cubicBezTo>
                    <a:pt x="2083438" y="1414656"/>
                    <a:pt x="2079698" y="1423684"/>
                    <a:pt x="2073041" y="1430341"/>
                  </a:cubicBezTo>
                  <a:cubicBezTo>
                    <a:pt x="2066385" y="1436997"/>
                    <a:pt x="2057356" y="1440737"/>
                    <a:pt x="2047943" y="1440737"/>
                  </a:cubicBezTo>
                  <a:lnTo>
                    <a:pt x="35495" y="1440737"/>
                  </a:lnTo>
                  <a:cubicBezTo>
                    <a:pt x="26081" y="1440737"/>
                    <a:pt x="17053" y="1436997"/>
                    <a:pt x="10396" y="1430341"/>
                  </a:cubicBezTo>
                  <a:cubicBezTo>
                    <a:pt x="3740" y="1423684"/>
                    <a:pt x="0" y="1414656"/>
                    <a:pt x="0" y="1405242"/>
                  </a:cubicBezTo>
                  <a:lnTo>
                    <a:pt x="0" y="35495"/>
                  </a:lnTo>
                  <a:cubicBezTo>
                    <a:pt x="0" y="26081"/>
                    <a:pt x="3740" y="17053"/>
                    <a:pt x="10396" y="10396"/>
                  </a:cubicBezTo>
                  <a:cubicBezTo>
                    <a:pt x="17053" y="3740"/>
                    <a:pt x="26081" y="0"/>
                    <a:pt x="35495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174C7C">
                    <a:alpha val="0"/>
                  </a:srgbClr>
                </a:gs>
                <a:gs pos="50000">
                  <a:srgbClr val="00162A">
                    <a:alpha val="85000"/>
                  </a:srgbClr>
                </a:gs>
                <a:gs pos="100000">
                  <a:srgbClr val="00162A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2083438" cy="1469312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5400000">
            <a:off x="7727304" y="5741990"/>
            <a:ext cx="5440148" cy="1531645"/>
            <a:chOff x="0" y="0"/>
            <a:chExt cx="1443465" cy="406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43465" cy="406400"/>
            </a:xfrm>
            <a:custGeom>
              <a:avLst/>
              <a:gdLst/>
              <a:ahLst/>
              <a:cxnLst/>
              <a:rect r="r" b="b" t="t" l="l"/>
              <a:pathLst>
                <a:path h="406400" w="1443465">
                  <a:moveTo>
                    <a:pt x="0" y="0"/>
                  </a:moveTo>
                  <a:lnTo>
                    <a:pt x="1443465" y="0"/>
                  </a:lnTo>
                  <a:lnTo>
                    <a:pt x="1443465" y="406400"/>
                  </a:lnTo>
                  <a:lnTo>
                    <a:pt x="0" y="406400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0"/>
                  </a:srgbClr>
                </a:gs>
                <a:gs pos="100000">
                  <a:srgbClr val="B6FC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1443465" cy="434975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5400000">
            <a:off x="10808991" y="6762022"/>
            <a:ext cx="3400085" cy="1531645"/>
            <a:chOff x="0" y="0"/>
            <a:chExt cx="902164" cy="406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02164" cy="406400"/>
            </a:xfrm>
            <a:custGeom>
              <a:avLst/>
              <a:gdLst/>
              <a:ahLst/>
              <a:cxnLst/>
              <a:rect r="r" b="b" t="t" l="l"/>
              <a:pathLst>
                <a:path h="406400" w="902164">
                  <a:moveTo>
                    <a:pt x="0" y="0"/>
                  </a:moveTo>
                  <a:lnTo>
                    <a:pt x="902164" y="0"/>
                  </a:lnTo>
                  <a:lnTo>
                    <a:pt x="902164" y="406400"/>
                  </a:lnTo>
                  <a:lnTo>
                    <a:pt x="0" y="406400"/>
                  </a:lnTo>
                  <a:close/>
                </a:path>
              </a:pathLst>
            </a:custGeom>
            <a:gradFill rotWithShape="true">
              <a:gsLst>
                <a:gs pos="0">
                  <a:srgbClr val="FFFFFF">
                    <a:alpha val="0"/>
                  </a:srgbClr>
                </a:gs>
                <a:gs pos="100000">
                  <a:srgbClr val="B6FC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28575"/>
              <a:ext cx="902164" cy="434975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909822" y="3527553"/>
            <a:ext cx="4392351" cy="2300249"/>
            <a:chOff x="0" y="0"/>
            <a:chExt cx="982771" cy="5146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982771" cy="514672"/>
            </a:xfrm>
            <a:custGeom>
              <a:avLst/>
              <a:gdLst/>
              <a:ahLst/>
              <a:cxnLst/>
              <a:rect r="r" b="b" t="t" l="l"/>
              <a:pathLst>
                <a:path h="514672" w="982771">
                  <a:moveTo>
                    <a:pt x="906571" y="0"/>
                  </a:moveTo>
                  <a:cubicBezTo>
                    <a:pt x="944671" y="0"/>
                    <a:pt x="982771" y="25400"/>
                    <a:pt x="982771" y="63500"/>
                  </a:cubicBezTo>
                  <a:lnTo>
                    <a:pt x="982771" y="311472"/>
                  </a:lnTo>
                  <a:cubicBezTo>
                    <a:pt x="982771" y="349572"/>
                    <a:pt x="944671" y="387672"/>
                    <a:pt x="906571" y="387672"/>
                  </a:cubicBezTo>
                  <a:lnTo>
                    <a:pt x="266700" y="387672"/>
                  </a:lnTo>
                  <a:lnTo>
                    <a:pt x="127000" y="514672"/>
                  </a:lnTo>
                  <a:lnTo>
                    <a:pt x="127000" y="387672"/>
                  </a:lnTo>
                  <a:lnTo>
                    <a:pt x="76200" y="387672"/>
                  </a:lnTo>
                  <a:cubicBezTo>
                    <a:pt x="38100" y="387672"/>
                    <a:pt x="0" y="349572"/>
                    <a:pt x="0" y="311472"/>
                  </a:cubicBezTo>
                  <a:lnTo>
                    <a:pt x="0" y="63500"/>
                  </a:lnTo>
                  <a:cubicBezTo>
                    <a:pt x="0" y="25400"/>
                    <a:pt x="38100" y="0"/>
                    <a:pt x="76200" y="0"/>
                  </a:cubicBezTo>
                  <a:lnTo>
                    <a:pt x="906571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sq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63500" y="34925"/>
              <a:ext cx="855771" cy="289247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008367" y="5949770"/>
            <a:ext cx="4923745" cy="2273816"/>
            <a:chOff x="0" y="0"/>
            <a:chExt cx="1237532" cy="5715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37532" cy="571500"/>
            </a:xfrm>
            <a:custGeom>
              <a:avLst/>
              <a:gdLst/>
              <a:ahLst/>
              <a:cxnLst/>
              <a:rect r="r" b="b" t="t" l="l"/>
              <a:pathLst>
                <a:path h="571500" w="1237532">
                  <a:moveTo>
                    <a:pt x="1161332" y="0"/>
                  </a:moveTo>
                  <a:cubicBezTo>
                    <a:pt x="1199432" y="0"/>
                    <a:pt x="1237532" y="25400"/>
                    <a:pt x="1237532" y="63500"/>
                  </a:cubicBezTo>
                  <a:lnTo>
                    <a:pt x="1237532" y="368300"/>
                  </a:lnTo>
                  <a:cubicBezTo>
                    <a:pt x="1237532" y="406400"/>
                    <a:pt x="1199432" y="444500"/>
                    <a:pt x="1161332" y="444500"/>
                  </a:cubicBezTo>
                  <a:lnTo>
                    <a:pt x="266700" y="444500"/>
                  </a:lnTo>
                  <a:lnTo>
                    <a:pt x="127000" y="571500"/>
                  </a:lnTo>
                  <a:lnTo>
                    <a:pt x="127000" y="444500"/>
                  </a:lnTo>
                  <a:lnTo>
                    <a:pt x="76200" y="444500"/>
                  </a:lnTo>
                  <a:cubicBezTo>
                    <a:pt x="38100" y="444500"/>
                    <a:pt x="0" y="406400"/>
                    <a:pt x="0" y="368300"/>
                  </a:cubicBezTo>
                  <a:lnTo>
                    <a:pt x="0" y="63500"/>
                  </a:lnTo>
                  <a:cubicBezTo>
                    <a:pt x="0" y="25400"/>
                    <a:pt x="38100" y="0"/>
                    <a:pt x="76200" y="0"/>
                  </a:cubicBezTo>
                  <a:lnTo>
                    <a:pt x="1161332" y="0"/>
                  </a:ln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sq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63500" y="34925"/>
              <a:ext cx="1110532" cy="346075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7423150" y="7259363"/>
            <a:ext cx="1010312" cy="1020518"/>
          </a:xfrm>
          <a:custGeom>
            <a:avLst/>
            <a:gdLst/>
            <a:ahLst/>
            <a:cxnLst/>
            <a:rect r="r" b="b" t="t" l="l"/>
            <a:pathLst>
              <a:path h="1020518" w="1010312">
                <a:moveTo>
                  <a:pt x="0" y="0"/>
                </a:moveTo>
                <a:lnTo>
                  <a:pt x="1010312" y="0"/>
                </a:lnTo>
                <a:lnTo>
                  <a:pt x="1010312" y="1020518"/>
                </a:lnTo>
                <a:lnTo>
                  <a:pt x="0" y="10205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10180431" y="3749639"/>
            <a:ext cx="3851133" cy="1091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1"/>
              </a:lnSpc>
            </a:pPr>
            <a:r>
              <a:rPr lang="en-US" sz="2093">
                <a:solidFill>
                  <a:srgbClr val="193771"/>
                </a:solidFill>
                <a:latin typeface="Muli"/>
                <a:ea typeface="Muli"/>
                <a:cs typeface="Muli"/>
                <a:sym typeface="Muli"/>
              </a:rPr>
              <a:t>AWGN là nhiễu trắng Gauss ngoài đời chính là tiếng xì xì rè rè  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56956" y="394376"/>
            <a:ext cx="7373861" cy="664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84"/>
              </a:lnSpc>
            </a:pPr>
            <a:r>
              <a:rPr lang="en-US" b="true" sz="3917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MỤC TIÊU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28700" y="2165243"/>
            <a:ext cx="7748465" cy="47130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6"/>
              </a:lnSpc>
            </a:pPr>
            <a:r>
              <a:rPr lang="en-US" sz="3004" b="true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Semi-Bold"/>
                <a:ea typeface="Muli Semi-Bold"/>
                <a:cs typeface="Muli Semi-Bold"/>
                <a:sym typeface="Muli Semi-Bold"/>
              </a:rPr>
              <a:t>Giọng nói trên thiết bị IoT biên dễ bị suy hao bởi tạp âm môi trường (nhiễu mạch AWGN, tiếng ồn đám đông Babble).</a:t>
            </a:r>
          </a:p>
          <a:p>
            <a:pPr algn="l">
              <a:lnSpc>
                <a:spcPts val="4206"/>
              </a:lnSpc>
            </a:pPr>
          </a:p>
          <a:p>
            <a:pPr algn="l">
              <a:lnSpc>
                <a:spcPts val="4206"/>
              </a:lnSpc>
            </a:pPr>
            <a:r>
              <a:rPr lang="en-US" b="true" sz="3004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Semi-Bold"/>
                <a:ea typeface="Muli Semi-Bold"/>
                <a:cs typeface="Muli Semi-Bold"/>
                <a:sym typeface="Muli Semi-Bold"/>
              </a:rPr>
              <a:t>Mục tiêu: </a:t>
            </a:r>
            <a:r>
              <a:rPr lang="en-US" b="true" sz="3004">
                <a:gradFill>
                  <a:gsLst>
                    <a:gs pos="0">
                      <a:srgbClr val="230036">
                        <a:alpha val="100000"/>
                      </a:srgbClr>
                    </a:gs>
                    <a:gs pos="50000">
                      <a:srgbClr val="174C7C">
                        <a:alpha val="100000"/>
                      </a:srgbClr>
                    </a:gs>
                    <a:gs pos="100000">
                      <a:srgbClr val="00162A">
                        <a:alpha val="100000"/>
                      </a:srgbClr>
                    </a:gs>
                  </a:gsLst>
                  <a:path path="circle">
                    <a:fillToRect l="0" r="100000" t="0" b="100000"/>
                  </a:path>
                  <a:tileRect r="0" l="-100000" b="0" t="-100000"/>
                </a:gradFill>
                <a:latin typeface="Muli Semi-Bold"/>
                <a:ea typeface="Muli Semi-Bold"/>
                <a:cs typeface="Muli Semi-Bold"/>
                <a:sym typeface="Muli Semi-Bold"/>
              </a:rPr>
              <a:t>Xây dựng mạng học sâu U-Net 2D DAE khử nhiễu trên phổ Log-mel; đối chứng khoa học với 2 thuật toán kinh điển (Wiener và Trừ phổ).</a:t>
            </a:r>
          </a:p>
          <a:p>
            <a:pPr algn="l">
              <a:lnSpc>
                <a:spcPts val="4206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12249460" y="6313394"/>
            <a:ext cx="4518264" cy="10917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1"/>
              </a:lnSpc>
            </a:pPr>
            <a:r>
              <a:rPr lang="en-US" sz="2093" b="true">
                <a:solidFill>
                  <a:srgbClr val="193771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Babble là nhiễu tiếng người rì rầm của đám đông (được trộn từ 4 luồng nói trong kho MUSAN)</a:t>
            </a:r>
          </a:p>
        </p:txBody>
      </p:sp>
      <p:sp>
        <p:nvSpPr>
          <p:cNvPr name="Freeform 27" id="27"/>
          <p:cNvSpPr/>
          <p:nvPr/>
        </p:nvSpPr>
        <p:spPr>
          <a:xfrm flipH="true" flipV="false" rot="0">
            <a:off x="11983232" y="-361368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11571259" y="0"/>
                </a:moveTo>
                <a:lnTo>
                  <a:pt x="0" y="0"/>
                </a:lnTo>
                <a:lnTo>
                  <a:pt x="0" y="6214731"/>
                </a:lnTo>
                <a:lnTo>
                  <a:pt x="11571259" y="6214731"/>
                </a:lnTo>
                <a:lnTo>
                  <a:pt x="1157125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9599386" y="1464672"/>
            <a:ext cx="7168337" cy="6934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69"/>
              </a:lnSpc>
            </a:pPr>
            <a:r>
              <a:rPr lang="en-US" sz="4049">
                <a:solidFill>
                  <a:srgbClr val="F1F5F7"/>
                </a:solidFill>
                <a:latin typeface="Muli"/>
                <a:ea typeface="Muli"/>
                <a:cs typeface="Muli"/>
                <a:sym typeface="Muli"/>
              </a:rPr>
              <a:t>Các loại nhiễu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78319" y="1462803"/>
            <a:ext cx="11810660" cy="8078007"/>
            <a:chOff x="0" y="0"/>
            <a:chExt cx="3133789" cy="214338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133789" cy="2143383"/>
            </a:xfrm>
            <a:custGeom>
              <a:avLst/>
              <a:gdLst/>
              <a:ahLst/>
              <a:cxnLst/>
              <a:rect r="r" b="b" t="t" l="l"/>
              <a:pathLst>
                <a:path h="2143383" w="3133789">
                  <a:moveTo>
                    <a:pt x="13766" y="0"/>
                  </a:moveTo>
                  <a:lnTo>
                    <a:pt x="3120024" y="0"/>
                  </a:lnTo>
                  <a:cubicBezTo>
                    <a:pt x="3127626" y="0"/>
                    <a:pt x="3133789" y="6163"/>
                    <a:pt x="3133789" y="13766"/>
                  </a:cubicBezTo>
                  <a:lnTo>
                    <a:pt x="3133789" y="2129618"/>
                  </a:lnTo>
                  <a:cubicBezTo>
                    <a:pt x="3133789" y="2137220"/>
                    <a:pt x="3127626" y="2143383"/>
                    <a:pt x="3120024" y="2143383"/>
                  </a:cubicBezTo>
                  <a:lnTo>
                    <a:pt x="13766" y="2143383"/>
                  </a:lnTo>
                  <a:cubicBezTo>
                    <a:pt x="6163" y="2143383"/>
                    <a:pt x="0" y="2137220"/>
                    <a:pt x="0" y="2129618"/>
                  </a:cubicBezTo>
                  <a:lnTo>
                    <a:pt x="0" y="13766"/>
                  </a:lnTo>
                  <a:cubicBezTo>
                    <a:pt x="0" y="6163"/>
                    <a:pt x="6163" y="0"/>
                    <a:pt x="13766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230036">
                    <a:alpha val="100000"/>
                  </a:srgbClr>
                </a:gs>
                <a:gs pos="50000">
                  <a:srgbClr val="174C7C">
                    <a:alpha val="100000"/>
                  </a:srgbClr>
                </a:gs>
                <a:gs pos="100000">
                  <a:srgbClr val="00162A">
                    <a:alpha val="100000"/>
                  </a:srgbClr>
                </a:gs>
              </a:gsLst>
              <a:path path="circle">
                <a:fillToRect l="0" r="100000" t="0" b="100000"/>
              </a:path>
              <a:tileRect r="0" l="-100000" b="0" t="-100000"/>
            </a:gradFill>
            <a:ln w="38100" cap="rnd">
              <a:solidFill>
                <a:srgbClr val="E2E2E2"/>
              </a:soli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133789" cy="2191008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517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715347" y="2201281"/>
            <a:ext cx="10635282" cy="6592085"/>
            <a:chOff x="0" y="0"/>
            <a:chExt cx="2821919" cy="174911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821919" cy="1749115"/>
            </a:xfrm>
            <a:custGeom>
              <a:avLst/>
              <a:gdLst/>
              <a:ahLst/>
              <a:cxnLst/>
              <a:rect r="r" b="b" t="t" l="l"/>
              <a:pathLst>
                <a:path h="1749115" w="2821919">
                  <a:moveTo>
                    <a:pt x="15287" y="0"/>
                  </a:moveTo>
                  <a:lnTo>
                    <a:pt x="2806633" y="0"/>
                  </a:lnTo>
                  <a:cubicBezTo>
                    <a:pt x="2815075" y="0"/>
                    <a:pt x="2821919" y="6844"/>
                    <a:pt x="2821919" y="15287"/>
                  </a:cubicBezTo>
                  <a:lnTo>
                    <a:pt x="2821919" y="1733828"/>
                  </a:lnTo>
                  <a:cubicBezTo>
                    <a:pt x="2821919" y="1742271"/>
                    <a:pt x="2815075" y="1749115"/>
                    <a:pt x="2806633" y="1749115"/>
                  </a:cubicBezTo>
                  <a:lnTo>
                    <a:pt x="15287" y="1749115"/>
                  </a:lnTo>
                  <a:cubicBezTo>
                    <a:pt x="6844" y="1749115"/>
                    <a:pt x="0" y="1742271"/>
                    <a:pt x="0" y="1733828"/>
                  </a:cubicBezTo>
                  <a:lnTo>
                    <a:pt x="0" y="15287"/>
                  </a:lnTo>
                  <a:cubicBezTo>
                    <a:pt x="0" y="6844"/>
                    <a:pt x="6844" y="0"/>
                    <a:pt x="15287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F9FBFF">
                    <a:alpha val="100000"/>
                  </a:srgbClr>
                </a:gs>
                <a:gs pos="100000">
                  <a:srgbClr val="F2F9FE">
                    <a:alpha val="100000"/>
                  </a:srgbClr>
                </a:gs>
              </a:gsLst>
              <a:lin ang="0"/>
            </a:gradFill>
            <a:ln w="38100" cap="rnd">
              <a:gradFill>
                <a:gsLst>
                  <a:gs pos="0">
                    <a:srgbClr val="DBFEFF">
                      <a:alpha val="100000"/>
                    </a:srgbClr>
                  </a:gs>
                  <a:gs pos="50000">
                    <a:srgbClr val="FFFFFF">
                      <a:alpha val="100000"/>
                    </a:srgbClr>
                  </a:gs>
                  <a:gs pos="100000">
                    <a:srgbClr val="B6FCFF">
                      <a:alpha val="100000"/>
                    </a:srgbClr>
                  </a:gs>
                </a:gsLst>
                <a:lin ang="0"/>
              </a:gra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2821919" cy="1796740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517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3400620" y="330347"/>
            <a:ext cx="11190727" cy="6829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78"/>
              </a:lnSpc>
            </a:pPr>
            <a:r>
              <a:rPr lang="en-US" b="true" sz="3984">
                <a:solidFill>
                  <a:srgbClr val="E9EEF3"/>
                </a:solidFill>
                <a:latin typeface="Muli Heavy"/>
                <a:ea typeface="Muli Heavy"/>
                <a:cs typeface="Muli Heavy"/>
                <a:sym typeface="Muli Heavy"/>
              </a:rPr>
              <a:t>DATASET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097898" y="2399979"/>
            <a:ext cx="9796173" cy="2518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27"/>
              </a:lnSpc>
            </a:pPr>
            <a:r>
              <a:rPr lang="en-US" b="true" sz="2876">
                <a:solidFill>
                  <a:srgbClr val="1D3E7C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Tê</a:t>
            </a:r>
            <a:r>
              <a:rPr lang="en-US" b="true" sz="2876">
                <a:solidFill>
                  <a:srgbClr val="1D3E7C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n đầy đủ: Free Spoken Digit Dataset (Bộ dữ liệu chữ số tiếng Anh phát âm tự do).</a:t>
            </a:r>
          </a:p>
          <a:p>
            <a:pPr algn="ctr">
              <a:lnSpc>
                <a:spcPts val="4027"/>
              </a:lnSpc>
            </a:pPr>
          </a:p>
          <a:p>
            <a:pPr algn="ctr">
              <a:lnSpc>
                <a:spcPts val="4027"/>
              </a:lnSpc>
            </a:pPr>
          </a:p>
          <a:p>
            <a:pPr algn="ctr">
              <a:lnSpc>
                <a:spcPts val="4027"/>
              </a:lnSpc>
            </a:pP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710775" y="5497323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3897756" y="3640256"/>
            <a:ext cx="10097779" cy="3927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7"/>
              </a:lnSpc>
              <a:spcBef>
                <a:spcPct val="0"/>
              </a:spcBef>
            </a:pPr>
            <a:r>
              <a:rPr lang="en-US" b="true" sz="2512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Nội dung: </a:t>
            </a:r>
            <a:r>
              <a:rPr lang="en-US" sz="2512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Ghi âm giọng đọc các chữ số tiếng Anh từ 0 đến 9 ("zero", "one", "two", ... "nine")</a:t>
            </a:r>
          </a:p>
          <a:p>
            <a:pPr algn="l">
              <a:lnSpc>
                <a:spcPts val="3517"/>
              </a:lnSpc>
              <a:spcBef>
                <a:spcPct val="0"/>
              </a:spcBef>
            </a:pPr>
          </a:p>
          <a:p>
            <a:pPr algn="l">
              <a:lnSpc>
                <a:spcPts val="3517"/>
              </a:lnSpc>
              <a:spcBef>
                <a:spcPct val="0"/>
              </a:spcBef>
            </a:pPr>
            <a:r>
              <a:rPr lang="en-US" b="true" sz="2512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Tổng số lượng tệp: </a:t>
            </a:r>
            <a:r>
              <a:rPr lang="en-US" sz="2512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Đúng 3.000 tệp âm thanh định dạng WAV</a:t>
            </a:r>
          </a:p>
          <a:p>
            <a:pPr algn="l">
              <a:lnSpc>
                <a:spcPts val="3517"/>
              </a:lnSpc>
              <a:spcBef>
                <a:spcPct val="0"/>
              </a:spcBef>
            </a:pPr>
          </a:p>
          <a:p>
            <a:pPr algn="l">
              <a:lnSpc>
                <a:spcPts val="3517"/>
              </a:lnSpc>
              <a:spcBef>
                <a:spcPct val="0"/>
              </a:spcBef>
            </a:pPr>
            <a:r>
              <a:rPr lang="en-US" b="true" sz="2512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Tần số lấy mẫu: </a:t>
            </a:r>
            <a:r>
              <a:rPr lang="en-US" sz="2512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8.000 Hz</a:t>
            </a:r>
          </a:p>
          <a:p>
            <a:pPr algn="l">
              <a:lnSpc>
                <a:spcPts val="3517"/>
              </a:lnSpc>
              <a:spcBef>
                <a:spcPct val="0"/>
              </a:spcBef>
            </a:pPr>
          </a:p>
          <a:p>
            <a:pPr algn="l">
              <a:lnSpc>
                <a:spcPts val="3517"/>
              </a:lnSpc>
              <a:spcBef>
                <a:spcPct val="0"/>
              </a:spcBef>
            </a:pPr>
            <a:r>
              <a:rPr lang="en-US" b="true" sz="2512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Người phát âm</a:t>
            </a:r>
            <a:r>
              <a:rPr lang="en-US" sz="2512">
                <a:solidFill>
                  <a:srgbClr val="000000"/>
                </a:solidFill>
                <a:latin typeface="Muli"/>
                <a:ea typeface="Muli"/>
                <a:cs typeface="Muli"/>
                <a:sym typeface="Muli"/>
              </a:rPr>
              <a:t>: Gồm đúng 6 người nói, mỗi người nói đọc lặp lại 50 lần cho mỗi chữ số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348822" y="4553962"/>
            <a:ext cx="19029996" cy="609481"/>
            <a:chOff x="0" y="0"/>
            <a:chExt cx="5049336" cy="16171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049336" cy="161717"/>
            </a:xfrm>
            <a:custGeom>
              <a:avLst/>
              <a:gdLst/>
              <a:ahLst/>
              <a:cxnLst/>
              <a:rect r="r" b="b" t="t" l="l"/>
              <a:pathLst>
                <a:path h="161717" w="5049336">
                  <a:moveTo>
                    <a:pt x="0" y="0"/>
                  </a:moveTo>
                  <a:lnTo>
                    <a:pt x="5049336" y="0"/>
                  </a:lnTo>
                  <a:lnTo>
                    <a:pt x="5049336" y="161717"/>
                  </a:lnTo>
                  <a:lnTo>
                    <a:pt x="0" y="161717"/>
                  </a:lnTo>
                  <a:close/>
                </a:path>
              </a:pathLst>
            </a:custGeom>
            <a:gradFill rotWithShape="true">
              <a:gsLst>
                <a:gs pos="0">
                  <a:srgbClr val="B6FCFF">
                    <a:alpha val="100000"/>
                  </a:srgbClr>
                </a:gs>
                <a:gs pos="50000">
                  <a:srgbClr val="FFFFFF">
                    <a:alpha val="0"/>
                  </a:srgbClr>
                </a:gs>
                <a:gs pos="100000">
                  <a:srgbClr val="B6FCFF">
                    <a:alpha val="100000"/>
                  </a:srgbClr>
                </a:gs>
              </a:gsLst>
              <a:lin ang="0"/>
            </a:gra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5049336" cy="190292"/>
            </a:xfrm>
            <a:prstGeom prst="rect">
              <a:avLst/>
            </a:prstGeom>
          </p:spPr>
          <p:txBody>
            <a:bodyPr anchor="ctr" rtlCol="false" tIns="53182" lIns="53182" bIns="53182" rIns="53182"/>
            <a:lstStyle/>
            <a:p>
              <a:pPr algn="ctr">
                <a:lnSpc>
                  <a:spcPts val="3402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false" rot="0">
            <a:off x="11983232" y="-361368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11571259" y="0"/>
                </a:moveTo>
                <a:lnTo>
                  <a:pt x="0" y="0"/>
                </a:lnTo>
                <a:lnTo>
                  <a:pt x="0" y="6214731"/>
                </a:lnTo>
                <a:lnTo>
                  <a:pt x="11571259" y="6214731"/>
                </a:lnTo>
                <a:lnTo>
                  <a:pt x="1157125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878222" y="670790"/>
            <a:ext cx="13296789" cy="8587510"/>
          </a:xfrm>
          <a:custGeom>
            <a:avLst/>
            <a:gdLst/>
            <a:ahLst/>
            <a:cxnLst/>
            <a:rect r="r" b="b" t="t" l="l"/>
            <a:pathLst>
              <a:path h="8587510" w="13296789">
                <a:moveTo>
                  <a:pt x="0" y="0"/>
                </a:moveTo>
                <a:lnTo>
                  <a:pt x="13296789" y="0"/>
                </a:lnTo>
                <a:lnTo>
                  <a:pt x="13296789" y="8587510"/>
                </a:lnTo>
                <a:lnTo>
                  <a:pt x="0" y="858751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5209480" y="707999"/>
            <a:ext cx="8459987" cy="9024450"/>
          </a:xfrm>
          <a:custGeom>
            <a:avLst/>
            <a:gdLst/>
            <a:ahLst/>
            <a:cxnLst/>
            <a:rect r="r" b="b" t="t" l="l"/>
            <a:pathLst>
              <a:path h="9024450" w="8459987">
                <a:moveTo>
                  <a:pt x="0" y="0"/>
                </a:moveTo>
                <a:lnTo>
                  <a:pt x="8459986" y="0"/>
                </a:lnTo>
                <a:lnTo>
                  <a:pt x="8459986" y="9024450"/>
                </a:lnTo>
                <a:lnTo>
                  <a:pt x="0" y="90244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7008" y="103185"/>
            <a:ext cx="15452346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5"/>
              </a:lnSpc>
            </a:pPr>
            <a:r>
              <a:rPr lang="en-US" b="true" sz="38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TIỀN XỬ LÝ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088342" y="270296"/>
            <a:ext cx="7422894" cy="9849478"/>
          </a:xfrm>
          <a:custGeom>
            <a:avLst/>
            <a:gdLst/>
            <a:ahLst/>
            <a:cxnLst/>
            <a:rect r="r" b="b" t="t" l="l"/>
            <a:pathLst>
              <a:path h="9849478" w="7422894">
                <a:moveTo>
                  <a:pt x="0" y="0"/>
                </a:moveTo>
                <a:lnTo>
                  <a:pt x="7422894" y="0"/>
                </a:lnTo>
                <a:lnTo>
                  <a:pt x="7422894" y="9849478"/>
                </a:lnTo>
                <a:lnTo>
                  <a:pt x="0" y="98494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7008" y="103185"/>
            <a:ext cx="15452346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5"/>
              </a:lnSpc>
            </a:pPr>
            <a:r>
              <a:rPr lang="en-US" b="true" sz="38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CÁC PHƯƠNG PHÁP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353651" y="469364"/>
            <a:ext cx="6989270" cy="9686538"/>
          </a:xfrm>
          <a:custGeom>
            <a:avLst/>
            <a:gdLst/>
            <a:ahLst/>
            <a:cxnLst/>
            <a:rect r="r" b="b" t="t" l="l"/>
            <a:pathLst>
              <a:path h="9686538" w="6989270">
                <a:moveTo>
                  <a:pt x="0" y="0"/>
                </a:moveTo>
                <a:lnTo>
                  <a:pt x="6989270" y="0"/>
                </a:lnTo>
                <a:lnTo>
                  <a:pt x="6989270" y="9686538"/>
                </a:lnTo>
                <a:lnTo>
                  <a:pt x="0" y="96865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7008" y="103185"/>
            <a:ext cx="15452346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5"/>
              </a:lnSpc>
            </a:pPr>
            <a:r>
              <a:rPr lang="en-US" b="true" sz="38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CÁC PHƯƠNG PHÁP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207061" y="978040"/>
            <a:ext cx="6444955" cy="8053321"/>
          </a:xfrm>
          <a:custGeom>
            <a:avLst/>
            <a:gdLst/>
            <a:ahLst/>
            <a:cxnLst/>
            <a:rect r="r" b="b" t="t" l="l"/>
            <a:pathLst>
              <a:path h="8053321" w="6444955">
                <a:moveTo>
                  <a:pt x="0" y="0"/>
                </a:moveTo>
                <a:lnTo>
                  <a:pt x="6444955" y="0"/>
                </a:lnTo>
                <a:lnTo>
                  <a:pt x="6444955" y="8053322"/>
                </a:lnTo>
                <a:lnTo>
                  <a:pt x="0" y="805332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7008" y="103185"/>
            <a:ext cx="15452346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5"/>
              </a:lnSpc>
            </a:pPr>
            <a:r>
              <a:rPr lang="en-US" b="true" sz="38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CÁC PHƯƠNG PHÁP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046733" y="1516552"/>
            <a:ext cx="11612621" cy="7741748"/>
          </a:xfrm>
          <a:custGeom>
            <a:avLst/>
            <a:gdLst/>
            <a:ahLst/>
            <a:cxnLst/>
            <a:rect r="r" b="b" t="t" l="l"/>
            <a:pathLst>
              <a:path h="7741748" w="11612621">
                <a:moveTo>
                  <a:pt x="0" y="0"/>
                </a:moveTo>
                <a:lnTo>
                  <a:pt x="11612622" y="0"/>
                </a:lnTo>
                <a:lnTo>
                  <a:pt x="11612622" y="7741748"/>
                </a:lnTo>
                <a:lnTo>
                  <a:pt x="0" y="77417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07008" y="103185"/>
            <a:ext cx="15452346" cy="6561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75"/>
              </a:lnSpc>
            </a:pPr>
            <a:r>
              <a:rPr lang="en-US" b="true" sz="3839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CÁC PHƯƠNG PHÁP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1097" y="2246560"/>
            <a:ext cx="6498323" cy="0"/>
          </a:xfrm>
          <a:prstGeom prst="line">
            <a:avLst/>
          </a:prstGeom>
          <a:ln cap="flat" w="38100">
            <a:solidFill>
              <a:srgbClr val="E2E2E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535127" y="3692762"/>
            <a:ext cx="13217747" cy="4863453"/>
          </a:xfrm>
          <a:custGeom>
            <a:avLst/>
            <a:gdLst/>
            <a:ahLst/>
            <a:cxnLst/>
            <a:rect r="r" b="b" t="t" l="l"/>
            <a:pathLst>
              <a:path h="4863453" w="13217747">
                <a:moveTo>
                  <a:pt x="0" y="0"/>
                </a:moveTo>
                <a:lnTo>
                  <a:pt x="13217746" y="0"/>
                </a:lnTo>
                <a:lnTo>
                  <a:pt x="13217746" y="4863453"/>
                </a:lnTo>
                <a:lnTo>
                  <a:pt x="0" y="486345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1097" y="1086566"/>
            <a:ext cx="14313073" cy="95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7"/>
              </a:lnSpc>
            </a:pPr>
            <a:r>
              <a:rPr lang="en-US" b="true" sz="5548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THỰC NGHIỆM KẾT QUẢ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1097" y="2246560"/>
            <a:ext cx="6498323" cy="0"/>
          </a:xfrm>
          <a:prstGeom prst="line">
            <a:avLst/>
          </a:prstGeom>
          <a:ln cap="flat" w="38100">
            <a:solidFill>
              <a:srgbClr val="E2E2E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785574" y="2700633"/>
            <a:ext cx="10186056" cy="7019406"/>
          </a:xfrm>
          <a:custGeom>
            <a:avLst/>
            <a:gdLst/>
            <a:ahLst/>
            <a:cxnLst/>
            <a:rect r="r" b="b" t="t" l="l"/>
            <a:pathLst>
              <a:path h="7019406" w="10186056">
                <a:moveTo>
                  <a:pt x="0" y="0"/>
                </a:moveTo>
                <a:lnTo>
                  <a:pt x="10186056" y="0"/>
                </a:lnTo>
                <a:lnTo>
                  <a:pt x="10186056" y="7019406"/>
                </a:lnTo>
                <a:lnTo>
                  <a:pt x="0" y="70194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1097" y="1086566"/>
            <a:ext cx="14313073" cy="95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7"/>
              </a:lnSpc>
            </a:pPr>
            <a:r>
              <a:rPr lang="en-US" b="true" sz="5548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THỰC NGHIỆM KẾT QUẢ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1097" y="2246560"/>
            <a:ext cx="6498323" cy="0"/>
          </a:xfrm>
          <a:prstGeom prst="line">
            <a:avLst/>
          </a:prstGeom>
          <a:ln cap="flat" w="38100">
            <a:solidFill>
              <a:srgbClr val="E2E2E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082796" y="2754283"/>
            <a:ext cx="10463411" cy="6481168"/>
          </a:xfrm>
          <a:custGeom>
            <a:avLst/>
            <a:gdLst/>
            <a:ahLst/>
            <a:cxnLst/>
            <a:rect r="r" b="b" t="t" l="l"/>
            <a:pathLst>
              <a:path h="6481168" w="10463411">
                <a:moveTo>
                  <a:pt x="0" y="0"/>
                </a:moveTo>
                <a:lnTo>
                  <a:pt x="10463411" y="0"/>
                </a:lnTo>
                <a:lnTo>
                  <a:pt x="10463411" y="6481167"/>
                </a:lnTo>
                <a:lnTo>
                  <a:pt x="0" y="64811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1097" y="1086566"/>
            <a:ext cx="14313073" cy="95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7"/>
              </a:lnSpc>
            </a:pPr>
            <a:r>
              <a:rPr lang="en-US" b="true" sz="5548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THỰC NGHIỆM KẾT QUẢ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1097" y="2246560"/>
            <a:ext cx="6498323" cy="0"/>
          </a:xfrm>
          <a:prstGeom prst="line">
            <a:avLst/>
          </a:prstGeom>
          <a:ln cap="flat" w="38100">
            <a:solidFill>
              <a:srgbClr val="E2E2E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859903" y="3040911"/>
            <a:ext cx="11110919" cy="5487984"/>
          </a:xfrm>
          <a:custGeom>
            <a:avLst/>
            <a:gdLst/>
            <a:ahLst/>
            <a:cxnLst/>
            <a:rect r="r" b="b" t="t" l="l"/>
            <a:pathLst>
              <a:path h="5487984" w="11110919">
                <a:moveTo>
                  <a:pt x="0" y="0"/>
                </a:moveTo>
                <a:lnTo>
                  <a:pt x="11110919" y="0"/>
                </a:lnTo>
                <a:lnTo>
                  <a:pt x="11110919" y="5487984"/>
                </a:lnTo>
                <a:lnTo>
                  <a:pt x="0" y="54879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1097" y="1086566"/>
            <a:ext cx="14313073" cy="95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7"/>
              </a:lnSpc>
            </a:pPr>
            <a:r>
              <a:rPr lang="en-US" b="true" sz="5548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THỰC NGHIỆM KẾT QUẢ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230036">
                <a:alpha val="100000"/>
              </a:srgbClr>
            </a:gs>
            <a:gs pos="50000">
              <a:srgbClr val="174C7C">
                <a:alpha val="100000"/>
              </a:srgbClr>
            </a:gs>
            <a:gs pos="100000">
              <a:srgbClr val="00162A">
                <a:alpha val="100000"/>
              </a:srgbClr>
            </a:gs>
          </a:gsLst>
          <a:lin ang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21097" y="2246560"/>
            <a:ext cx="6498323" cy="0"/>
          </a:xfrm>
          <a:prstGeom prst="line">
            <a:avLst/>
          </a:prstGeom>
          <a:ln cap="flat" w="38100">
            <a:solidFill>
              <a:srgbClr val="E2E2E2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-5363621" y="6780129"/>
            <a:ext cx="11571260" cy="6214731"/>
          </a:xfrm>
          <a:custGeom>
            <a:avLst/>
            <a:gdLst/>
            <a:ahLst/>
            <a:cxnLst/>
            <a:rect r="r" b="b" t="t" l="l"/>
            <a:pathLst>
              <a:path h="6214731" w="11571260">
                <a:moveTo>
                  <a:pt x="0" y="0"/>
                </a:moveTo>
                <a:lnTo>
                  <a:pt x="11571260" y="0"/>
                </a:lnTo>
                <a:lnTo>
                  <a:pt x="11571260" y="6214731"/>
                </a:lnTo>
                <a:lnTo>
                  <a:pt x="0" y="621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058379" y="2769468"/>
            <a:ext cx="8111016" cy="6854603"/>
          </a:xfrm>
          <a:custGeom>
            <a:avLst/>
            <a:gdLst/>
            <a:ahLst/>
            <a:cxnLst/>
            <a:rect r="r" b="b" t="t" l="l"/>
            <a:pathLst>
              <a:path h="6854603" w="8111016">
                <a:moveTo>
                  <a:pt x="0" y="0"/>
                </a:moveTo>
                <a:lnTo>
                  <a:pt x="8111015" y="0"/>
                </a:lnTo>
                <a:lnTo>
                  <a:pt x="8111015" y="6854604"/>
                </a:lnTo>
                <a:lnTo>
                  <a:pt x="0" y="6854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21097" y="1086566"/>
            <a:ext cx="14313073" cy="95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67"/>
              </a:lnSpc>
            </a:pPr>
            <a:r>
              <a:rPr lang="en-US" b="true" sz="5548">
                <a:solidFill>
                  <a:srgbClr val="FFFFFF"/>
                </a:solidFill>
                <a:latin typeface="Muli Heavy"/>
                <a:ea typeface="Muli Heavy"/>
                <a:cs typeface="Muli Heavy"/>
                <a:sym typeface="Muli Heavy"/>
              </a:rPr>
              <a:t>THỰC NGHIỆM KẾT QUẢ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DAHXZQWZsc0</dc:identifier>
  <dcterms:modified xsi:type="dcterms:W3CDTF">2011-08-01T06:04:30Z</dcterms:modified>
  <cp:revision>1</cp:revision>
  <dc:title>trÍ TUỆ NHÂN TẠO CHO IOT</dc:title>
</cp:coreProperties>
</file>